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LEARNING CONTENT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生成AI最新動向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業界動向 / 主要AIの特徴と使い分け / 各社の戦略 / 社会的影響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5 Chapters  ·  Powered by Claude Pro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502920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0408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63093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業界全体の変化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92354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普及率・市場規模・フェーズの転換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426464"/>
            <a:ext cx="502920" cy="62179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361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主要AI各社の比較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175564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/ Gemini / Meta / Grok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58568"/>
            <a:ext cx="502920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6829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229514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各社の戦略と展望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587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チップ開発・収益化・競争の焦点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90672"/>
            <a:ext cx="502920" cy="62179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0040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8720" y="31272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AIエージェント時代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41985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エージェント・A2A・MCP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22776"/>
            <a:ext cx="502920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3250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8720" y="39593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社会への影響と予測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二極化・規制・シャドーAI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2026年の生成AI業界 — 何が変わったか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92024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984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企業のAI利用率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（2026年）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234440"/>
            <a:ext cx="1920240" cy="1325880"/>
          </a:xfrm>
          <a:prstGeom prst="rect">
            <a:avLst/>
          </a:prstGeom>
          <a:solidFill>
            <a:srgbClr val="4A6FA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2984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833億ドル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世界市場規模予測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20240" cy="1325880"/>
          </a:xfrm>
          <a:prstGeom prst="rect">
            <a:avLst/>
          </a:prstGeom>
          <a:solidFill>
            <a:srgbClr val="0F6E5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984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1/10以下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2年前比の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APIコスト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234440"/>
            <a:ext cx="192024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2984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1228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日本市場の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年平均成長率予測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24912"/>
            <a:ext cx="54864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724912"/>
            <a:ext cx="7955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「試す年」から「成果を出す年」へ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298094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2026年は企業がROI・コスト削減の具体的な数字を求める段階へ完全移行。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54864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483864"/>
            <a:ext cx="7955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APIコストが10分の1以下に急落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739896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競争激化で中小企業でも高性能AIが手の届く価格に。導入障壁が消えた。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42816"/>
            <a:ext cx="54864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242816"/>
            <a:ext cx="7955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用途別の棲み分けが鮮明に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449884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「最強のAI」競争から、各社が強い戦場を絞り込む「用途特化」競争へシフト。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企業利用率: 2024年 15% → 2025年 29% → 2026年 54.7%（毎年ほぼ倍増）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主要AI各社の最新モデルと特徴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260604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2801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270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" y="1737360"/>
            <a:ext cx="1133856" cy="201168"/>
          </a:xfrm>
          <a:prstGeom prst="roundRect">
            <a:avLst>
              <a:gd name="adj" fmla="val 22727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7373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実務ワークフロー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" y="197510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汎用性最高、GPTsでノーコードAI構築。コンシューマー向けのトラフィック入口として圧倒的シェア。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88720"/>
            <a:ext cx="2606040" cy="54864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568" y="12801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15270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01568" y="1737360"/>
            <a:ext cx="1490472" cy="201168"/>
          </a:xfrm>
          <a:prstGeom prst="roundRect">
            <a:avLst>
              <a:gd name="adj" fmla="val 22727"/>
            </a:avLst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17373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コーディング・企業向け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01568" y="197510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コーディング・長文処理に強み。100万トークン対応。Fortune 100の8割が基幹業務に採用。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118872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188720"/>
            <a:ext cx="260604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12801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90488" y="15270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0488" y="1737360"/>
            <a:ext cx="1490472" cy="201168"/>
          </a:xfrm>
          <a:prstGeom prst="roundRect">
            <a:avLst>
              <a:gd name="adj" fmla="val 22727"/>
            </a:avLst>
          </a:prstGeom>
          <a:solidFill>
            <a:srgbClr val="F0F4FF"/>
          </a:solidFill>
          <a:ln/>
        </p:spPr>
      </p:sp>
      <p:sp>
        <p:nvSpPr>
          <p:cNvPr id="24" name="Text 22"/>
          <p:cNvSpPr/>
          <p:nvPr/>
        </p:nvSpPr>
        <p:spPr>
          <a:xfrm>
            <a:off x="6190488" y="17373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推論・Google連携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90488" y="197510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推論・マルチモーダル・長文読解に強み。Workspace / Gmailとシームレスに統合。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1089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108960"/>
            <a:ext cx="2606040" cy="54864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" y="3200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" y="34472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" y="3657600"/>
            <a:ext cx="1490472" cy="201168"/>
          </a:xfrm>
          <a:prstGeom prst="roundRect">
            <a:avLst>
              <a:gd name="adj" fmla="val 22727"/>
            </a:avLst>
          </a:prstGeom>
          <a:solidFill>
            <a:srgbClr val="F0F4FF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" y="3657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オープン・カスタマイズ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" y="389534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オープンウェイトで自社サーバー導入可能。設備投資は最大1,350億ドル。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1089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3108960"/>
            <a:ext cx="2606040" cy="54864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5" name="Text 33"/>
          <p:cNvSpPr/>
          <p:nvPr/>
        </p:nvSpPr>
        <p:spPr>
          <a:xfrm>
            <a:off x="3401568" y="3200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01568" y="34472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4.20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01568" y="3657600"/>
            <a:ext cx="1133856" cy="201168"/>
          </a:xfrm>
          <a:prstGeom prst="roundRect">
            <a:avLst>
              <a:gd name="adj" fmla="val 22727"/>
            </a:avLst>
          </a:prstGeom>
          <a:solidFill>
            <a:srgbClr val="FEE2E2"/>
          </a:solidFill>
          <a:ln/>
        </p:spPr>
      </p:sp>
      <p:sp>
        <p:nvSpPr>
          <p:cNvPr id="38" name="Text 36"/>
          <p:cNvSpPr/>
          <p:nvPr/>
        </p:nvSpPr>
        <p:spPr>
          <a:xfrm>
            <a:off x="3401568" y="3657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リアルタイム情報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01568" y="389534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Xとリアルタイム連携。高速なエージェント的ツール利用が強み。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0760" y="31089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0760" y="3108960"/>
            <a:ext cx="260604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6190488" y="3200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90488" y="34472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M365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90488" y="3657600"/>
            <a:ext cx="1133856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/>
        </p:spPr>
      </p:sp>
      <p:sp>
        <p:nvSpPr>
          <p:cNvPr id="45" name="Text 43"/>
          <p:cNvSpPr/>
          <p:nvPr/>
        </p:nvSpPr>
        <p:spPr>
          <a:xfrm>
            <a:off x="6190488" y="3657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Office業務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90488" y="389534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Word・Excel・Outlookと深く統合。企業のIT部門から導入しやすい。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各社の展望と競争の焦点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914400" cy="6583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5272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1143000"/>
            <a:ext cx="7132320" cy="65836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234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インフラ強化とCodexワークフロー拡大。コンシューマー向け「スーパーアプリ」を目指す。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48256"/>
            <a:ext cx="914400" cy="658368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5798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048256"/>
            <a:ext cx="7132320" cy="65836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21396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B2B特化でOpenAIの約4倍の収益効率。2026年10月IPO（600億ドル超）を予定。Claude Codeは9ヶ月で25億ドルARRを達成。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53512"/>
            <a:ext cx="9144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953512"/>
            <a:ext cx="7132320" cy="65836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304495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低遅延・低コストモデルとAI Studioを進化。日常利用と開発利用の両面からAIの接触面を拡大。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914400" cy="658368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6849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3858768"/>
            <a:ext cx="7132320" cy="65836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395020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2026年のAI設備投資は最大1,350億ドル。オープンウェイト戦略でエコシステムを拡大。自社チップMTIAシリーズを量産。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681728"/>
            <a:ext cx="8046720" cy="34747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700016"/>
            <a:ext cx="7827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TOPIC: 各社が自社チップ開発を競う — NVIDIAへの依存低減・計算コスト削減・供給リスク回避が共通の狙い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AIエージェント時代の到来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931920" cy="374904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AIエージェントとは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人間が指示を出すと、AIが検索・コード実行・ファイル操作・API呼び出しなどのツールを自分で選んで使い、目標を達成するまでループします。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単に「質問に答える」のではなく、仕事を「やり遂げる」のが本質。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29260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971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3035808"/>
            <a:ext cx="256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36776" y="29260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636776" y="2971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95144" y="3035808"/>
            <a:ext cx="256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0" y="29260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2971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18688" y="3035808"/>
            <a:ext cx="256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83864" y="29260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483864" y="2971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再計画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63931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ループ ↩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54864" cy="100584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11430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Code（代表例）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14173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コードベース全体を読み込み、バグ修正・実装・テスト作成まで自律実行。GitHub公開コミットの4%はすでにClaude Codeが完了（年末には20%超予想）。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395728"/>
            <a:ext cx="54864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23957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— Agent to 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267004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複数のAIエージェントが連携してワークフローを分担処理。2026年のAI比較はこの連携対応が主な評価軸。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648456"/>
            <a:ext cx="54864" cy="10058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364845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共通接続規格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3922776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Protocol。AIと外部ツール・データを接続するUSB-C的なオープン標準規格として普及中。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社会への影響と今後の予測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3931920" cy="2560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43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プラスの影響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業務効率化・コスト削減の加速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AIリテラシーを持つ人材の価値向上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新産業・新職種の創出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77977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医療・教育・科学研究での活用拡大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1821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マーケティング・映像制作の変革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70432"/>
            <a:ext cx="3931920" cy="2560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43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向き合うべき課題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57276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ルーティン業務の自動化・雇用変化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97510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ディープフェイク・詐欺の高度化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377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著作権・プライバシー問題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77977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シャドーAIのガバナンスリスク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1821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各国での規制整備の遅れ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13632"/>
            <a:ext cx="80467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959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市場規模予測：2026年 833億ドル  →  2035年 9,884億ドル（CAGR 31.6%）  ·  日本：2030年 2,110億ドル（JEITA）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正しい問いは「最強のAIはどれか」ではなく、「自分の仕事に最適なAIスタックは何か」。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5つのキーポイント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17904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517904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AI利用率は54.7%。企業はROIを求める「評価の年」へ突入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94560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1284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2212848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各AIは用途で棲み分け。「最強」より「最適な選択」を考える時代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889504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0779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907792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各社は自社チップ開発でNVIDIA依存を脱却し、インフラ競争を激化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584448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0273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602736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AIエージェントが「答える」から「やり遂げる」AIへ進化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279392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9768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429768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社会的恩恵と課題が並走。シャドーAI対策など企業の対応が急務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Powered by Claude Pro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生成AI最新動向 2026</dc:title>
  <dc:subject>PptxGenJS Presentation</dc:subject>
  <dc:creator>Claude Pro</dc:creator>
  <cp:lastModifiedBy>Claude Pro</cp:lastModifiedBy>
  <cp:revision>1</cp:revision>
  <dcterms:created xsi:type="dcterms:W3CDTF">2026-04-18T15:27:21Z</dcterms:created>
  <dcterms:modified xsi:type="dcterms:W3CDTF">2026-04-18T15:27:21Z</dcterms:modified>
</cp:coreProperties>
</file>