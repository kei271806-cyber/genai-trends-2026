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3" name="Shape 1"/>
          <p:cNvSpPr/>
          <p:nvPr/>
        </p:nvSpPr>
        <p:spPr>
          <a:xfrm>
            <a:off x="6217920" y="-914400"/>
            <a:ext cx="5029200" cy="5029200"/>
          </a:xfrm>
          <a:prstGeom prst="ellipse">
            <a:avLst/>
          </a:prstGeom>
          <a:solidFill>
            <a:srgbClr val="CADCFC">
              <a:alpha val="14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371600" y="3200400"/>
            <a:ext cx="3200400" cy="3200400"/>
          </a:xfrm>
          <a:prstGeom prst="ellipse">
            <a:avLst/>
          </a:prstGeom>
          <a:solidFill>
            <a:srgbClr val="CADCFC">
              <a:alpha val="9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88720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4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LEARNING CONTENT · APRIL 2026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640080" y="1600200"/>
            <a:ext cx="8229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生成AI最新動向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640080" y="2560320"/>
            <a:ext cx="5486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完全版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640080" y="3520440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AAB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業界動向 / 主要6社の詳細比較と活用法 / 業界別事例 / AIエージェント / 社会的影響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40080" y="475488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88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Slides  ·  Powered by Claude Pro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0" y="5093208"/>
            <a:ext cx="9144000" cy="50292"/>
          </a:xfrm>
          <a:prstGeom prst="rect">
            <a:avLst/>
          </a:prstGeom>
          <a:solidFill>
            <a:srgbClr val="CADCFC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400" kern="0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48640" y="47548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目次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097280"/>
            <a:ext cx="1051560" cy="56692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234440"/>
            <a:ext cx="1051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600200" y="1097280"/>
            <a:ext cx="7132320" cy="566928"/>
          </a:xfrm>
          <a:prstGeom prst="rect">
            <a:avLst/>
          </a:prstGeom>
          <a:solidFill>
            <a:srgbClr val="F0F4FF"/>
          </a:solidFill>
          <a:ln/>
        </p:spPr>
      </p:sp>
      <p:sp>
        <p:nvSpPr>
          <p:cNvPr id="8" name="Text 6"/>
          <p:cNvSpPr/>
          <p:nvPr/>
        </p:nvSpPr>
        <p:spPr>
          <a:xfrm>
            <a:off x="1737360" y="1152144"/>
            <a:ext cx="6858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業界全体の動向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737360" y="1408176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普及率・市場規模・競争構図の変化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48640" y="1883664"/>
            <a:ext cx="1051560" cy="566928"/>
          </a:xfrm>
          <a:prstGeom prst="rect">
            <a:avLst/>
          </a:prstGeom>
          <a:solidFill>
            <a:srgbClr val="4A6FA5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020824"/>
            <a:ext cx="1051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600200" y="1883664"/>
            <a:ext cx="7132320" cy="566928"/>
          </a:xfrm>
          <a:prstGeom prst="rect">
            <a:avLst/>
          </a:prstGeom>
          <a:solidFill>
            <a:srgbClr val="F0F4FF"/>
          </a:solidFill>
          <a:ln/>
        </p:spPr>
      </p:sp>
      <p:sp>
        <p:nvSpPr>
          <p:cNvPr id="13" name="Text 11"/>
          <p:cNvSpPr/>
          <p:nvPr/>
        </p:nvSpPr>
        <p:spPr>
          <a:xfrm>
            <a:off x="1737360" y="1938528"/>
            <a:ext cx="6858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主要AI 6社 詳細比較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737360" y="21945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 / Claude / Gemini / Meta / Grok / Copilot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48640" y="2670048"/>
            <a:ext cx="1051560" cy="566928"/>
          </a:xfrm>
          <a:prstGeom prst="rect">
            <a:avLst/>
          </a:prstGeom>
          <a:solidFill>
            <a:srgbClr val="0F6E56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2807208"/>
            <a:ext cx="1051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600200" y="2670048"/>
            <a:ext cx="7132320" cy="566928"/>
          </a:xfrm>
          <a:prstGeom prst="rect">
            <a:avLst/>
          </a:prstGeom>
          <a:solidFill>
            <a:srgbClr val="F0F4FF"/>
          </a:solidFill>
          <a:ln/>
        </p:spPr>
      </p:sp>
      <p:sp>
        <p:nvSpPr>
          <p:cNvPr id="18" name="Text 16"/>
          <p:cNvSpPr/>
          <p:nvPr/>
        </p:nvSpPr>
        <p:spPr>
          <a:xfrm>
            <a:off x="1737360" y="2724912"/>
            <a:ext cx="6858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業界別 活用事例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737360" y="2980944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製造・医療・金融・教育・マーケティング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48640" y="3456432"/>
            <a:ext cx="1051560" cy="566928"/>
          </a:xfrm>
          <a:prstGeom prst="rect">
            <a:avLst/>
          </a:prstGeom>
          <a:solidFill>
            <a:srgbClr val="4C1D95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3593592"/>
            <a:ext cx="1051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1600200" y="3456432"/>
            <a:ext cx="7132320" cy="566928"/>
          </a:xfrm>
          <a:prstGeom prst="rect">
            <a:avLst/>
          </a:prstGeom>
          <a:solidFill>
            <a:srgbClr val="F0F4FF"/>
          </a:solidFill>
          <a:ln/>
        </p:spPr>
      </p:sp>
      <p:sp>
        <p:nvSpPr>
          <p:cNvPr id="23" name="Text 21"/>
          <p:cNvSpPr/>
          <p:nvPr/>
        </p:nvSpPr>
        <p:spPr>
          <a:xfrm>
            <a:off x="1737360" y="3511296"/>
            <a:ext cx="6858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AIエージェントの実態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737360" y="3767328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エージェント・A2A・MCP の最前線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48640" y="4242816"/>
            <a:ext cx="1051560" cy="566928"/>
          </a:xfrm>
          <a:prstGeom prst="rect">
            <a:avLst/>
          </a:prstGeom>
          <a:solidFill>
            <a:srgbClr val="991B1B"/>
          </a:solidFill>
          <a:ln/>
        </p:spPr>
      </p:sp>
      <p:sp>
        <p:nvSpPr>
          <p:cNvPr id="26" name="Text 24"/>
          <p:cNvSpPr/>
          <p:nvPr/>
        </p:nvSpPr>
        <p:spPr>
          <a:xfrm>
            <a:off x="548640" y="4379976"/>
            <a:ext cx="1051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5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1600200" y="4242816"/>
            <a:ext cx="7132320" cy="566928"/>
          </a:xfrm>
          <a:prstGeom prst="rect">
            <a:avLst/>
          </a:prstGeom>
          <a:solidFill>
            <a:srgbClr val="F0F4FF"/>
          </a:solidFill>
          <a:ln/>
        </p:spPr>
      </p:sp>
      <p:sp>
        <p:nvSpPr>
          <p:cNvPr id="28" name="Text 26"/>
          <p:cNvSpPr/>
          <p:nvPr/>
        </p:nvSpPr>
        <p:spPr>
          <a:xfrm>
            <a:off x="1737360" y="4297680"/>
            <a:ext cx="6858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社会への影響と展望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737360" y="4553712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雇用変化・規制・企業二極化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3" name="Shape 1"/>
          <p:cNvSpPr/>
          <p:nvPr/>
        </p:nvSpPr>
        <p:spPr>
          <a:xfrm>
            <a:off x="6583680" y="-731520"/>
            <a:ext cx="4114800" cy="4114800"/>
          </a:xfrm>
          <a:prstGeom prst="ellipse">
            <a:avLst/>
          </a:prstGeom>
          <a:solidFill>
            <a:srgbClr val="CADCFC">
              <a:alpha val="1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5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1828800"/>
            <a:ext cx="7315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業界全体の動向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640080" y="29260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AB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普及率・市場規模・競争構図の変化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0" y="5093208"/>
            <a:ext cx="9144000" cy="50292"/>
          </a:xfrm>
          <a:prstGeom prst="rect">
            <a:avLst/>
          </a:prstGeom>
          <a:solidFill>
            <a:srgbClr val="CADCFC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400" kern="0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 —  業界全体の動向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48640" y="475488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2026年：「試す年」から「成果を出す年」へ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02920" y="1143000"/>
            <a:ext cx="1920240" cy="1325880"/>
          </a:xfrm>
          <a:prstGeom prst="rect">
            <a:avLst/>
          </a:prstGeom>
          <a:solidFill>
            <a:srgbClr val="1E2761"/>
          </a:solidFill>
          <a:ln/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76072" y="1188720"/>
            <a:ext cx="1773936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54.7%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76072" y="1828800"/>
            <a:ext cx="177393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企業のAI利用率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（2024年15% → 2026年）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578608" y="1143000"/>
            <a:ext cx="1920240" cy="1325880"/>
          </a:xfrm>
          <a:prstGeom prst="rect">
            <a:avLst/>
          </a:prstGeom>
          <a:solidFill>
            <a:srgbClr val="4A6FA5"/>
          </a:solidFill>
          <a:ln/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651760" y="1188720"/>
            <a:ext cx="1773936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833億ドル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2651760" y="1828800"/>
            <a:ext cx="177393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2026年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世界市場規模予測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654296" y="1143000"/>
            <a:ext cx="1920240" cy="1325880"/>
          </a:xfrm>
          <a:prstGeom prst="rect">
            <a:avLst/>
          </a:prstGeom>
          <a:solidFill>
            <a:srgbClr val="0F6E56"/>
          </a:solidFill>
          <a:ln/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727448" y="1188720"/>
            <a:ext cx="1773936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1/10以下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727448" y="1828800"/>
            <a:ext cx="177393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2年前比の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APIコスト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729984" y="1143000"/>
            <a:ext cx="1920240" cy="1325880"/>
          </a:xfrm>
          <a:prstGeom prst="rect">
            <a:avLst/>
          </a:prstGeom>
          <a:solidFill>
            <a:srgbClr val="4C1D95"/>
          </a:solidFill>
          <a:ln/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803136" y="1188720"/>
            <a:ext cx="1773936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2.5兆ドル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803136" y="1828800"/>
            <a:ext cx="177393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2026年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世界AI投資総額（前年比+44%）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48640" y="2633472"/>
            <a:ext cx="50292" cy="5486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8" name="Text 16"/>
          <p:cNvSpPr/>
          <p:nvPr/>
        </p:nvSpPr>
        <p:spPr>
          <a:xfrm>
            <a:off x="749808" y="2633472"/>
            <a:ext cx="79552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ROI・成果が問われる時代へ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49808" y="2889504"/>
            <a:ext cx="7955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企業は「AIで何ができるか」の驚きを卒業し、コスト削減・業務効率化の具体的な数字を求め始めた。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3410712"/>
            <a:ext cx="50292" cy="5486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749808" y="3410712"/>
            <a:ext cx="79552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用途別の棲み分けが確立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49808" y="3666744"/>
            <a:ext cx="7955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1社のAIが全用途を制する構図は崩れ、各社が強みの戦場を絞り込む多極化競争へ移行。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48640" y="4187952"/>
            <a:ext cx="50292" cy="5486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4" name="Text 22"/>
          <p:cNvSpPr/>
          <p:nvPr/>
        </p:nvSpPr>
        <p:spPr>
          <a:xfrm>
            <a:off x="749808" y="4187952"/>
            <a:ext cx="79552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AI活用企業と非活用企業の二極化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49808" y="4443984"/>
            <a:ext cx="7955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AI活用に成功した企業は1.7倍の成長を遂げるという試算もあり、格差は急拡大中。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400" kern="0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 —  業界全体の動向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48640" y="47548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競争構図の変化 — 多極化する戦場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02920" y="1097280"/>
            <a:ext cx="20574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097280"/>
            <a:ext cx="2057400" cy="50292"/>
          </a:xfrm>
          <a:prstGeom prst="rect">
            <a:avLst/>
          </a:prstGeom>
          <a:solidFill>
            <a:srgbClr val="0F6E56"/>
          </a:solidFill>
          <a:ln/>
        </p:spPr>
      </p:sp>
      <p:sp>
        <p:nvSpPr>
          <p:cNvPr id="7" name="Text 5"/>
          <p:cNvSpPr/>
          <p:nvPr/>
        </p:nvSpPr>
        <p:spPr>
          <a:xfrm>
            <a:off x="612648" y="11887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12648" y="146304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GPT-5.4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12648" y="1664208"/>
            <a:ext cx="1783080" cy="201168"/>
          </a:xfrm>
          <a:prstGeom prst="roundRect">
            <a:avLst>
              <a:gd name="adj" fmla="val 18182"/>
            </a:avLst>
          </a:prstGeom>
          <a:solidFill>
            <a:srgbClr val="F0F4FF"/>
          </a:solidFill>
          <a:ln/>
        </p:spPr>
      </p:sp>
      <p:sp>
        <p:nvSpPr>
          <p:cNvPr id="10" name="Text 8"/>
          <p:cNvSpPr/>
          <p:nvPr/>
        </p:nvSpPr>
        <p:spPr>
          <a:xfrm>
            <a:off x="612648" y="1664208"/>
            <a:ext cx="1783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実務ワークフロー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12648" y="1901952"/>
            <a:ext cx="1783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強みの戦場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743200" y="1097280"/>
            <a:ext cx="20574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0" y="1097280"/>
            <a:ext cx="2057400" cy="50292"/>
          </a:xfrm>
          <a:prstGeom prst="rect">
            <a:avLst/>
          </a:prstGeom>
          <a:solidFill>
            <a:srgbClr val="4C1D95"/>
          </a:solidFill>
          <a:ln/>
        </p:spPr>
      </p:sp>
      <p:sp>
        <p:nvSpPr>
          <p:cNvPr id="14" name="Text 12"/>
          <p:cNvSpPr/>
          <p:nvPr/>
        </p:nvSpPr>
        <p:spPr>
          <a:xfrm>
            <a:off x="2852928" y="11887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852928" y="146304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Opus 4.7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852928" y="1664208"/>
            <a:ext cx="1783080" cy="201168"/>
          </a:xfrm>
          <a:prstGeom prst="roundRect">
            <a:avLst>
              <a:gd name="adj" fmla="val 18182"/>
            </a:avLst>
          </a:prstGeom>
          <a:solidFill>
            <a:srgbClr val="F0F4FF"/>
          </a:solidFill>
          <a:ln/>
        </p:spPr>
      </p:sp>
      <p:sp>
        <p:nvSpPr>
          <p:cNvPr id="17" name="Text 15"/>
          <p:cNvSpPr/>
          <p:nvPr/>
        </p:nvSpPr>
        <p:spPr>
          <a:xfrm>
            <a:off x="2852928" y="1664208"/>
            <a:ext cx="1783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コーディング・企業向け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852928" y="1901952"/>
            <a:ext cx="1783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強みの戦場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983480" y="1097280"/>
            <a:ext cx="20574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983480" y="1097280"/>
            <a:ext cx="2057400" cy="5029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5093208" y="11887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093208" y="146304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3.1 Pro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093208" y="1664208"/>
            <a:ext cx="1783080" cy="201168"/>
          </a:xfrm>
          <a:prstGeom prst="roundRect">
            <a:avLst>
              <a:gd name="adj" fmla="val 18182"/>
            </a:avLst>
          </a:prstGeom>
          <a:solidFill>
            <a:srgbClr val="F0F4FF"/>
          </a:solidFill>
          <a:ln/>
        </p:spPr>
      </p:sp>
      <p:sp>
        <p:nvSpPr>
          <p:cNvPr id="24" name="Text 22"/>
          <p:cNvSpPr/>
          <p:nvPr/>
        </p:nvSpPr>
        <p:spPr>
          <a:xfrm>
            <a:off x="5093208" y="1664208"/>
            <a:ext cx="1783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推論・マルチモーダル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093208" y="1901952"/>
            <a:ext cx="1783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強みの戦場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7223760" y="1097280"/>
            <a:ext cx="20574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7223760" y="1097280"/>
            <a:ext cx="2057400" cy="50292"/>
          </a:xfrm>
          <a:prstGeom prst="rect">
            <a:avLst/>
          </a:prstGeom>
          <a:solidFill>
            <a:srgbClr val="4A6FA5"/>
          </a:solidFill>
          <a:ln/>
        </p:spPr>
      </p:sp>
      <p:sp>
        <p:nvSpPr>
          <p:cNvPr id="28" name="Text 26"/>
          <p:cNvSpPr/>
          <p:nvPr/>
        </p:nvSpPr>
        <p:spPr>
          <a:xfrm>
            <a:off x="7333488" y="11887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7333488" y="146304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 4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7333488" y="1664208"/>
            <a:ext cx="1783080" cy="201168"/>
          </a:xfrm>
          <a:prstGeom prst="roundRect">
            <a:avLst>
              <a:gd name="adj" fmla="val 18182"/>
            </a:avLst>
          </a:prstGeom>
          <a:solidFill>
            <a:srgbClr val="F0F4FF"/>
          </a:solidFill>
          <a:ln/>
        </p:spPr>
      </p:sp>
      <p:sp>
        <p:nvSpPr>
          <p:cNvPr id="31" name="Text 29"/>
          <p:cNvSpPr/>
          <p:nvPr/>
        </p:nvSpPr>
        <p:spPr>
          <a:xfrm>
            <a:off x="7333488" y="1664208"/>
            <a:ext cx="1783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オープン・カスタマイズ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7333488" y="1901952"/>
            <a:ext cx="1783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強みの戦場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502920" y="2880360"/>
            <a:ext cx="8321040" cy="347472"/>
          </a:xfrm>
          <a:prstGeom prst="rect">
            <a:avLst/>
          </a:prstGeom>
          <a:solidFill>
            <a:srgbClr val="FEF3C7"/>
          </a:solidFill>
          <a:ln/>
        </p:spPr>
      </p:sp>
      <p:sp>
        <p:nvSpPr>
          <p:cNvPr id="34" name="Text 32"/>
          <p:cNvSpPr/>
          <p:nvPr/>
        </p:nvSpPr>
        <p:spPr>
          <a:xfrm>
            <a:off x="640080" y="2898648"/>
            <a:ext cx="8138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正しい問い：「最強のAIはどれか」ではなく「自分の仕事に最適なAIスタックは何か」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548640" y="3474720"/>
            <a:ext cx="182880" cy="1828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6" name="Text 34"/>
          <p:cNvSpPr/>
          <p:nvPr/>
        </p:nvSpPr>
        <p:spPr>
          <a:xfrm>
            <a:off x="822960" y="3438144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2026年4月：各社の主力モデルが出そろい、用途別の棲み分けが鮮明に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548640" y="3886200"/>
            <a:ext cx="182880" cy="1828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8" name="Text 36"/>
          <p:cNvSpPr/>
          <p:nvPr/>
        </p:nvSpPr>
        <p:spPr>
          <a:xfrm>
            <a:off x="822960" y="3849624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DeepSeek（中国）がオープンソースで台頭し、価格競争をさらに激化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548640" y="4297680"/>
            <a:ext cx="182880" cy="1828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40" name="Text 38"/>
          <p:cNvSpPr/>
          <p:nvPr/>
        </p:nvSpPr>
        <p:spPr>
          <a:xfrm>
            <a:off x="822960" y="4261104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AI検索の普及で「クリックレス」化が進み、Webへの流入構造が激変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548640" y="4709160"/>
            <a:ext cx="182880" cy="1828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42" name="Text 40"/>
          <p:cNvSpPr/>
          <p:nvPr/>
        </p:nvSpPr>
        <p:spPr>
          <a:xfrm>
            <a:off x="822960" y="4672584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スモールLLM（軽量専門モデル）が医療・金融・法律など特化領域で存在感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3" name="Shape 1"/>
          <p:cNvSpPr/>
          <p:nvPr/>
        </p:nvSpPr>
        <p:spPr>
          <a:xfrm>
            <a:off x="6583680" y="-731520"/>
            <a:ext cx="4114800" cy="4114800"/>
          </a:xfrm>
          <a:prstGeom prst="ellipse">
            <a:avLst/>
          </a:prstGeom>
          <a:solidFill>
            <a:srgbClr val="CADCFC">
              <a:alpha val="1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5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1828800"/>
            <a:ext cx="7315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主要AI 6社 詳細比較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640080" y="29260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AB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各AIの特徴・強み・具体的な活用方法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0" y="5093208"/>
            <a:ext cx="9144000" cy="50292"/>
          </a:xfrm>
          <a:prstGeom prst="rect">
            <a:avLst/>
          </a:prstGeom>
          <a:solidFill>
            <a:srgbClr val="CADCFC"/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400" kern="0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 —  主要AI 詳細比較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0" y="50292"/>
            <a:ext cx="9144000" cy="960120"/>
          </a:xfrm>
          <a:prstGeom prst="rect">
            <a:avLst/>
          </a:prstGeom>
          <a:solidFill>
            <a:srgbClr val="0F6E56"/>
          </a:solidFill>
          <a:ln/>
        </p:spPr>
      </p:sp>
      <p:sp>
        <p:nvSpPr>
          <p:cNvPr id="5" name="Text 3"/>
          <p:cNvSpPr/>
          <p:nvPr/>
        </p:nvSpPr>
        <p:spPr>
          <a:xfrm>
            <a:off x="594360" y="118872"/>
            <a:ext cx="6400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— ChatGPT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94360" y="59436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GPT-5.4 Thinking / Pro / Instant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949440" y="201168"/>
            <a:ext cx="1792224" cy="237744"/>
          </a:xfrm>
          <a:prstGeom prst="roundRect">
            <a:avLst>
              <a:gd name="adj" fmla="val 19231"/>
            </a:avLst>
          </a:prstGeom>
          <a:solidFill>
            <a:srgbClr val="D1FAE5"/>
          </a:solidFill>
          <a:ln/>
        </p:spPr>
      </p:sp>
      <p:sp>
        <p:nvSpPr>
          <p:cNvPr id="8" name="Text 6"/>
          <p:cNvSpPr/>
          <p:nvPr/>
        </p:nvSpPr>
        <p:spPr>
          <a:xfrm>
            <a:off x="6949440" y="201168"/>
            <a:ext cx="179222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実務ワークフロー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94360" y="1115568"/>
            <a:ext cx="8321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が開発する世界最大ユーザーを持つ汎用AI。2026年3月リリースのGPT-5.4は推論・コーディング・エージェント機能を1モデルに統合。Thinkingモードで複雑な問いに深く思考し、Instantモードで即答する使い分けが可能。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94360" y="166420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強み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94360" y="1993392"/>
            <a:ext cx="50292" cy="274320"/>
          </a:xfrm>
          <a:prstGeom prst="rect">
            <a:avLst/>
          </a:prstGeom>
          <a:solidFill>
            <a:srgbClr val="0F6E56"/>
          </a:solidFill>
          <a:ln/>
        </p:spPr>
      </p:sp>
      <p:sp>
        <p:nvSpPr>
          <p:cNvPr id="12" name="Text 10"/>
          <p:cNvSpPr/>
          <p:nvPr/>
        </p:nvSpPr>
        <p:spPr>
          <a:xfrm>
            <a:off x="749808" y="1938528"/>
            <a:ext cx="3657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汎用性が最も高い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49808" y="2157984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テキスト・画像・音声・コードをオールラウンドに処理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94360" y="2432304"/>
            <a:ext cx="50292" cy="274320"/>
          </a:xfrm>
          <a:prstGeom prst="rect">
            <a:avLst/>
          </a:prstGeom>
          <a:solidFill>
            <a:srgbClr val="0F6E56"/>
          </a:solidFill>
          <a:ln/>
        </p:spPr>
      </p:sp>
      <p:sp>
        <p:nvSpPr>
          <p:cNvPr id="15" name="Text 13"/>
          <p:cNvSpPr/>
          <p:nvPr/>
        </p:nvSpPr>
        <p:spPr>
          <a:xfrm>
            <a:off x="749808" y="2377440"/>
            <a:ext cx="3657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GPTsでカスタムAI構築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49808" y="2596896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ノーコードで自社専用AIを構築・公開できる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94360" y="2871216"/>
            <a:ext cx="50292" cy="274320"/>
          </a:xfrm>
          <a:prstGeom prst="rect">
            <a:avLst/>
          </a:prstGeom>
          <a:solidFill>
            <a:srgbClr val="0F6E56"/>
          </a:solidFill>
          <a:ln/>
        </p:spPr>
      </p:sp>
      <p:sp>
        <p:nvSpPr>
          <p:cNvPr id="18" name="Text 16"/>
          <p:cNvSpPr/>
          <p:nvPr/>
        </p:nvSpPr>
        <p:spPr>
          <a:xfrm>
            <a:off x="749808" y="2816352"/>
            <a:ext cx="3657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エコシステムが最大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49808" y="3035808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プラグイン・API連携サービスが最多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94360" y="3310128"/>
            <a:ext cx="50292" cy="274320"/>
          </a:xfrm>
          <a:prstGeom prst="rect">
            <a:avLst/>
          </a:prstGeom>
          <a:solidFill>
            <a:srgbClr val="0F6E56"/>
          </a:solidFill>
          <a:ln/>
        </p:spPr>
      </p:sp>
      <p:sp>
        <p:nvSpPr>
          <p:cNvPr id="21" name="Text 19"/>
          <p:cNvSpPr/>
          <p:nvPr/>
        </p:nvSpPr>
        <p:spPr>
          <a:xfrm>
            <a:off x="749808" y="3255264"/>
            <a:ext cx="3657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Thinkingモードで深い推論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49808" y="347472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難問・多段階推論でも高い精度を発揮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754880" y="1664208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注意点・弱み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754880" y="2011680"/>
            <a:ext cx="164592" cy="164592"/>
          </a:xfrm>
          <a:prstGeom prst="ellipse">
            <a:avLst/>
          </a:prstGeom>
          <a:solidFill>
            <a:srgbClr val="991B1B"/>
          </a:solidFill>
          <a:ln/>
        </p:spPr>
      </p:sp>
      <p:sp>
        <p:nvSpPr>
          <p:cNvPr id="25" name="Text 23"/>
          <p:cNvSpPr/>
          <p:nvPr/>
        </p:nvSpPr>
        <p:spPr>
          <a:xfrm>
            <a:off x="5029200" y="1975104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ハルシネーション（もっともらしい嘘）は根絶されていない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754880" y="2450592"/>
            <a:ext cx="164592" cy="164592"/>
          </a:xfrm>
          <a:prstGeom prst="ellipse">
            <a:avLst/>
          </a:prstGeom>
          <a:solidFill>
            <a:srgbClr val="991B1B"/>
          </a:solidFill>
          <a:ln/>
        </p:spPr>
      </p:sp>
      <p:sp>
        <p:nvSpPr>
          <p:cNvPr id="27" name="Text 25"/>
          <p:cNvSpPr/>
          <p:nvPr/>
        </p:nvSpPr>
        <p:spPr>
          <a:xfrm>
            <a:off x="5029200" y="2414016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無料版は機能・回数に制限あり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754880" y="2889504"/>
            <a:ext cx="164592" cy="164592"/>
          </a:xfrm>
          <a:prstGeom prst="ellipse">
            <a:avLst/>
          </a:prstGeom>
          <a:solidFill>
            <a:srgbClr val="991B1B"/>
          </a:solidFill>
          <a:ln/>
        </p:spPr>
      </p:sp>
      <p:sp>
        <p:nvSpPr>
          <p:cNvPr id="29" name="Text 27"/>
          <p:cNvSpPr/>
          <p:nvPr/>
        </p:nvSpPr>
        <p:spPr>
          <a:xfrm>
            <a:off x="5029200" y="285292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Enterpriseプランでないと学習に使われる可能性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400" kern="0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 —  主要AI 詳細比較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48640" y="47548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 — 具体的な活用方法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475488"/>
            <a:ext cx="50292" cy="502920"/>
          </a:xfrm>
          <a:prstGeom prst="rect">
            <a:avLst/>
          </a:prstGeom>
          <a:solidFill>
            <a:srgbClr val="0F6E56"/>
          </a:solidFill>
          <a:ln/>
        </p:spPr>
      </p:sp>
      <p:sp>
        <p:nvSpPr>
          <p:cNvPr id="6" name="Text 4"/>
          <p:cNvSpPr/>
          <p:nvPr/>
        </p:nvSpPr>
        <p:spPr>
          <a:xfrm>
            <a:off x="0" y="0"/>
            <a:ext cx="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548640" y="1115568"/>
            <a:ext cx="4069080" cy="1051560"/>
          </a:xfrm>
          <a:prstGeom prst="rect">
            <a:avLst/>
          </a:prstGeom>
          <a:solidFill>
            <a:srgbClr val="F0F4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115568"/>
            <a:ext cx="4069080" cy="50292"/>
          </a:xfrm>
          <a:prstGeom prst="rect">
            <a:avLst/>
          </a:prstGeom>
          <a:solidFill>
            <a:srgbClr val="0F6E56"/>
          </a:solidFill>
          <a:ln/>
        </p:spPr>
      </p:sp>
      <p:sp>
        <p:nvSpPr>
          <p:cNvPr id="9" name="Text 7"/>
          <p:cNvSpPr/>
          <p:nvPr/>
        </p:nvSpPr>
        <p:spPr>
          <a:xfrm>
            <a:off x="658368" y="1188720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マーケティングコピー作成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58368" y="1435608"/>
            <a:ext cx="3840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「Aの商品、30代女性向け、SNS広告3パターン」で即座に複数案生成。A/Bテスト用素材を大量生産。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846320" y="1115568"/>
            <a:ext cx="4069080" cy="1051560"/>
          </a:xfrm>
          <a:prstGeom prst="rect">
            <a:avLst/>
          </a:prstGeom>
          <a:solidFill>
            <a:srgbClr val="F0F4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846320" y="1115568"/>
            <a:ext cx="4069080" cy="50292"/>
          </a:xfrm>
          <a:prstGeom prst="rect">
            <a:avLst/>
          </a:prstGeom>
          <a:solidFill>
            <a:srgbClr val="0F6E56"/>
          </a:solidFill>
          <a:ln/>
        </p:spPr>
      </p:sp>
      <p:sp>
        <p:nvSpPr>
          <p:cNvPr id="13" name="Text 11"/>
          <p:cNvSpPr/>
          <p:nvPr/>
        </p:nvSpPr>
        <p:spPr>
          <a:xfrm>
            <a:off x="4956048" y="1188720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市場調査レポート自動化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956048" y="1435608"/>
            <a:ext cx="3840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大枠の指示だけでWebブラウジング・データ収集・分析・文書作成まで自律実行（GPT-5.4エージェント）。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48640" y="2286000"/>
            <a:ext cx="4069080" cy="1051560"/>
          </a:xfrm>
          <a:prstGeom prst="rect">
            <a:avLst/>
          </a:prstGeom>
          <a:solidFill>
            <a:srgbClr val="F0F4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2286000"/>
            <a:ext cx="4069080" cy="50292"/>
          </a:xfrm>
          <a:prstGeom prst="rect">
            <a:avLst/>
          </a:prstGeom>
          <a:solidFill>
            <a:srgbClr val="0F6E56"/>
          </a:solidFill>
          <a:ln/>
        </p:spPr>
      </p:sp>
      <p:sp>
        <p:nvSpPr>
          <p:cNvPr id="17" name="Text 15"/>
          <p:cNvSpPr/>
          <p:nvPr/>
        </p:nvSpPr>
        <p:spPr>
          <a:xfrm>
            <a:off x="658368" y="2359152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カスタムAI（GPTs）構築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58368" y="2606040"/>
            <a:ext cx="3840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社内FAQボット・営業支援AI・採用面接評価AIを専門知識不要で構築。チームに展開できる。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846320" y="2286000"/>
            <a:ext cx="4069080" cy="1051560"/>
          </a:xfrm>
          <a:prstGeom prst="rect">
            <a:avLst/>
          </a:prstGeom>
          <a:solidFill>
            <a:srgbClr val="F0F4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846320" y="2286000"/>
            <a:ext cx="4069080" cy="50292"/>
          </a:xfrm>
          <a:prstGeom prst="rect">
            <a:avLst/>
          </a:prstGeom>
          <a:solidFill>
            <a:srgbClr val="0F6E56"/>
          </a:solidFill>
          <a:ln/>
        </p:spPr>
      </p:sp>
      <p:sp>
        <p:nvSpPr>
          <p:cNvPr id="21" name="Text 19"/>
          <p:cNvSpPr/>
          <p:nvPr/>
        </p:nvSpPr>
        <p:spPr>
          <a:xfrm>
            <a:off x="4956048" y="2359152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/ スプレッドシート分析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956048" y="2606040"/>
            <a:ext cx="3840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 for Excelで、自然言語でスプレッドシートを操作・分析・グラフ化。財務モデルも即作成。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48640" y="4681728"/>
            <a:ext cx="8046720" cy="3657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4" name="Text 22"/>
          <p:cNvSpPr/>
          <p:nvPr/>
        </p:nvSpPr>
        <p:spPr>
          <a:xfrm>
            <a:off x="685800" y="4709160"/>
            <a:ext cx="7818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TIPS: </a:t>
            </a:r>
            <a:pPr indent="0" marL="0">
              <a:buNone/>
            </a:pPr>
            <a:r>
              <a:rPr lang="en-US" sz="1050" dirty="0">
                <a:solidFill>
                  <a:srgbClr val="AAB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役割を明確に指示するとアウトプットが激変。「あなたは10年のキャリアを持つマーケターです。〇〇を前提に…」のように書き出す。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400" kern="0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 —  主要AI 詳細比較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0" y="50292"/>
            <a:ext cx="9144000" cy="960120"/>
          </a:xfrm>
          <a:prstGeom prst="rect">
            <a:avLst/>
          </a:prstGeom>
          <a:solidFill>
            <a:srgbClr val="4C1D95"/>
          </a:solidFill>
          <a:ln/>
        </p:spPr>
      </p:sp>
      <p:sp>
        <p:nvSpPr>
          <p:cNvPr id="5" name="Text 3"/>
          <p:cNvSpPr/>
          <p:nvPr/>
        </p:nvSpPr>
        <p:spPr>
          <a:xfrm>
            <a:off x="594360" y="118872"/>
            <a:ext cx="6400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— Claude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94360" y="59436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Opus 4.7 / Sonnet 4.6 / Code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949440" y="201168"/>
            <a:ext cx="1792224" cy="237744"/>
          </a:xfrm>
          <a:prstGeom prst="roundRect">
            <a:avLst>
              <a:gd name="adj" fmla="val 19231"/>
            </a:avLst>
          </a:prstGeom>
          <a:solidFill>
            <a:srgbClr val="EDE9FE"/>
          </a:solidFill>
          <a:ln/>
        </p:spPr>
      </p:sp>
      <p:sp>
        <p:nvSpPr>
          <p:cNvPr id="8" name="Text 6"/>
          <p:cNvSpPr/>
          <p:nvPr/>
        </p:nvSpPr>
        <p:spPr>
          <a:xfrm>
            <a:off x="6949440" y="201168"/>
            <a:ext cx="179222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コーディング・企業向け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94360" y="1115568"/>
            <a:ext cx="8321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Anthropicが開発する安全性重視のAI。100万トークンの超長文コンテキストを処理でき、フォーチュン・グローバル100の約8割が基幹業務に採用。コーディングベンチマーク（SWE-bench）で業界最高水準を記録。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94360" y="166420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強み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94360" y="1993392"/>
            <a:ext cx="50292" cy="274320"/>
          </a:xfrm>
          <a:prstGeom prst="rect">
            <a:avLst/>
          </a:prstGeom>
          <a:solidFill>
            <a:srgbClr val="4C1D95"/>
          </a:solidFill>
          <a:ln/>
        </p:spPr>
      </p:sp>
      <p:sp>
        <p:nvSpPr>
          <p:cNvPr id="12" name="Text 10"/>
          <p:cNvSpPr/>
          <p:nvPr/>
        </p:nvSpPr>
        <p:spPr>
          <a:xfrm>
            <a:off x="749808" y="1938528"/>
            <a:ext cx="3657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長文・複雑文書の読解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49808" y="2157984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100万トークン対応。契約書・論文・コードベース全体を一括処理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94360" y="2432304"/>
            <a:ext cx="50292" cy="274320"/>
          </a:xfrm>
          <a:prstGeom prst="rect">
            <a:avLst/>
          </a:prstGeom>
          <a:solidFill>
            <a:srgbClr val="4C1D95"/>
          </a:solidFill>
          <a:ln/>
        </p:spPr>
      </p:sp>
      <p:sp>
        <p:nvSpPr>
          <p:cNvPr id="15" name="Text 13"/>
          <p:cNvSpPr/>
          <p:nvPr/>
        </p:nvSpPr>
        <p:spPr>
          <a:xfrm>
            <a:off x="749808" y="2377440"/>
            <a:ext cx="3657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コーディング性能が最高水準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49808" y="2596896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SWE-bench Verified 82%達成。Claude Codeでバグ修正から設計まで自律実行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94360" y="2871216"/>
            <a:ext cx="50292" cy="274320"/>
          </a:xfrm>
          <a:prstGeom prst="rect">
            <a:avLst/>
          </a:prstGeom>
          <a:solidFill>
            <a:srgbClr val="4C1D95"/>
          </a:solidFill>
          <a:ln/>
        </p:spPr>
      </p:sp>
      <p:sp>
        <p:nvSpPr>
          <p:cNvPr id="18" name="Text 16"/>
          <p:cNvSpPr/>
          <p:nvPr/>
        </p:nvSpPr>
        <p:spPr>
          <a:xfrm>
            <a:off x="749808" y="2816352"/>
            <a:ext cx="3657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日本語品質が高い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49808" y="3035808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自然で読みやすい日本語出力。ライティング・要約に最適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94360" y="3310128"/>
            <a:ext cx="50292" cy="274320"/>
          </a:xfrm>
          <a:prstGeom prst="rect">
            <a:avLst/>
          </a:prstGeom>
          <a:solidFill>
            <a:srgbClr val="4C1D95"/>
          </a:solidFill>
          <a:ln/>
        </p:spPr>
      </p:sp>
      <p:sp>
        <p:nvSpPr>
          <p:cNvPr id="21" name="Text 19"/>
          <p:cNvSpPr/>
          <p:nvPr/>
        </p:nvSpPr>
        <p:spPr>
          <a:xfrm>
            <a:off x="749808" y="3255264"/>
            <a:ext cx="3657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安全性・倫理設計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49808" y="347472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Constitutional AIにより有害出力を抑制。企業コンプライアンスに対応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754880" y="1664208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注意点・弱み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754880" y="2011680"/>
            <a:ext cx="164592" cy="164592"/>
          </a:xfrm>
          <a:prstGeom prst="ellipse">
            <a:avLst/>
          </a:prstGeom>
          <a:solidFill>
            <a:srgbClr val="991B1B"/>
          </a:solidFill>
          <a:ln/>
        </p:spPr>
      </p:sp>
      <p:sp>
        <p:nvSpPr>
          <p:cNvPr id="25" name="Text 23"/>
          <p:cNvSpPr/>
          <p:nvPr/>
        </p:nvSpPr>
        <p:spPr>
          <a:xfrm>
            <a:off x="5029200" y="1975104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画像生成は非対応（テキスト・コード特化）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754880" y="2450592"/>
            <a:ext cx="164592" cy="164592"/>
          </a:xfrm>
          <a:prstGeom prst="ellipse">
            <a:avLst/>
          </a:prstGeom>
          <a:solidFill>
            <a:srgbClr val="991B1B"/>
          </a:solidFill>
          <a:ln/>
        </p:spPr>
      </p:sp>
      <p:sp>
        <p:nvSpPr>
          <p:cNvPr id="27" name="Text 25"/>
          <p:cNvSpPr/>
          <p:nvPr/>
        </p:nvSpPr>
        <p:spPr>
          <a:xfrm>
            <a:off x="5029200" y="2414016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GPTsのようなノーコードAI構築機能は限定的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754880" y="2889504"/>
            <a:ext cx="164592" cy="164592"/>
          </a:xfrm>
          <a:prstGeom prst="ellipse">
            <a:avLst/>
          </a:prstGeom>
          <a:solidFill>
            <a:srgbClr val="991B1B"/>
          </a:solidFill>
          <a:ln/>
        </p:spPr>
      </p:sp>
      <p:sp>
        <p:nvSpPr>
          <p:cNvPr id="29" name="Text 27"/>
          <p:cNvSpPr/>
          <p:nvPr/>
        </p:nvSpPr>
        <p:spPr>
          <a:xfrm>
            <a:off x="5029200" y="285292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無料版の利用制限はChatGPTより厳しめ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400" kern="0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 —  主要AI 詳細比較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48640" y="47548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— 具体的な活用方法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475488"/>
            <a:ext cx="50292" cy="502920"/>
          </a:xfrm>
          <a:prstGeom prst="rect">
            <a:avLst/>
          </a:prstGeom>
          <a:solidFill>
            <a:srgbClr val="4C1D95"/>
          </a:solidFill>
          <a:ln/>
        </p:spPr>
      </p:sp>
      <p:sp>
        <p:nvSpPr>
          <p:cNvPr id="6" name="Text 4"/>
          <p:cNvSpPr/>
          <p:nvPr/>
        </p:nvSpPr>
        <p:spPr>
          <a:xfrm>
            <a:off x="0" y="0"/>
            <a:ext cx="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548640" y="1115568"/>
            <a:ext cx="4069080" cy="1051560"/>
          </a:xfrm>
          <a:prstGeom prst="rect">
            <a:avLst/>
          </a:prstGeom>
          <a:solidFill>
            <a:srgbClr val="F0F4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115568"/>
            <a:ext cx="4069080" cy="50292"/>
          </a:xfrm>
          <a:prstGeom prst="rect">
            <a:avLst/>
          </a:prstGeom>
          <a:solidFill>
            <a:srgbClr val="4C1D95"/>
          </a:solidFill>
          <a:ln/>
        </p:spPr>
      </p:sp>
      <p:sp>
        <p:nvSpPr>
          <p:cNvPr id="9" name="Text 7"/>
          <p:cNvSpPr/>
          <p:nvPr/>
        </p:nvSpPr>
        <p:spPr>
          <a:xfrm>
            <a:off x="658368" y="1188720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長文書類の一括分析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58368" y="1435608"/>
            <a:ext cx="3840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100ページの契約書・報告書・論文をまるごと貼り付け、要点・リスク・アクション項目を一瞬で抽出。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846320" y="1115568"/>
            <a:ext cx="4069080" cy="1051560"/>
          </a:xfrm>
          <a:prstGeom prst="rect">
            <a:avLst/>
          </a:prstGeom>
          <a:solidFill>
            <a:srgbClr val="F0F4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846320" y="1115568"/>
            <a:ext cx="4069080" cy="50292"/>
          </a:xfrm>
          <a:prstGeom prst="rect">
            <a:avLst/>
          </a:prstGeom>
          <a:solidFill>
            <a:srgbClr val="4C1D95"/>
          </a:solidFill>
          <a:ln/>
        </p:spPr>
      </p:sp>
      <p:sp>
        <p:nvSpPr>
          <p:cNvPr id="13" name="Text 11"/>
          <p:cNvSpPr/>
          <p:nvPr/>
        </p:nvSpPr>
        <p:spPr>
          <a:xfrm>
            <a:off x="4956048" y="1188720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自然な日本語ライティング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956048" y="1435608"/>
            <a:ext cx="3840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社外向け提案書・プレスリリース・メールを、AIっぽさのない読みやすい文章で仕上げる。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48640" y="2286000"/>
            <a:ext cx="4069080" cy="1051560"/>
          </a:xfrm>
          <a:prstGeom prst="rect">
            <a:avLst/>
          </a:prstGeom>
          <a:solidFill>
            <a:srgbClr val="F0F4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2286000"/>
            <a:ext cx="4069080" cy="50292"/>
          </a:xfrm>
          <a:prstGeom prst="rect">
            <a:avLst/>
          </a:prstGeom>
          <a:solidFill>
            <a:srgbClr val="4C1D95"/>
          </a:solidFill>
          <a:ln/>
        </p:spPr>
      </p:sp>
      <p:sp>
        <p:nvSpPr>
          <p:cNvPr id="17" name="Text 15"/>
          <p:cNvSpPr/>
          <p:nvPr/>
        </p:nvSpPr>
        <p:spPr>
          <a:xfrm>
            <a:off x="658368" y="2359152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Code：コード自律実行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58368" y="2606040"/>
            <a:ext cx="3840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「このバグを直してテストを書いて」と指示するだけ。GitHub上の公開コミットの4%はすでにClaude Codeが完了。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846320" y="2286000"/>
            <a:ext cx="4069080" cy="1051560"/>
          </a:xfrm>
          <a:prstGeom prst="rect">
            <a:avLst/>
          </a:prstGeom>
          <a:solidFill>
            <a:srgbClr val="F0F4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846320" y="2286000"/>
            <a:ext cx="4069080" cy="50292"/>
          </a:xfrm>
          <a:prstGeom prst="rect">
            <a:avLst/>
          </a:prstGeom>
          <a:solidFill>
            <a:srgbClr val="4C1D95"/>
          </a:solidFill>
          <a:ln/>
        </p:spPr>
      </p:sp>
      <p:sp>
        <p:nvSpPr>
          <p:cNvPr id="21" name="Text 19"/>
          <p:cNvSpPr/>
          <p:nvPr/>
        </p:nvSpPr>
        <p:spPr>
          <a:xfrm>
            <a:off x="4956048" y="2359152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複雑な法務・財務レビュー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956048" y="2606040"/>
            <a:ext cx="3840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難解な規約・財務諸表・法的文書を正確に読み解き、専門外の担当者でも理解できる形で要約。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48640" y="4681728"/>
            <a:ext cx="8046720" cy="3657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4" name="Text 22"/>
          <p:cNvSpPr/>
          <p:nvPr/>
        </p:nvSpPr>
        <p:spPr>
          <a:xfrm>
            <a:off x="685800" y="4709160"/>
            <a:ext cx="7818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TIPS: </a:t>
            </a:r>
            <a:pPr indent="0" marL="0">
              <a:buNone/>
            </a:pPr>
            <a:r>
              <a:rPr lang="en-US" sz="1050" dirty="0">
                <a:solidFill>
                  <a:srgbClr val="AAB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Claudeは「丁寧に論理的に答えてほしい」タスクに強い。長文を渡すときは最初にゴールを明示する（例：「この文書を読んで、リスクを箇条書きで3点挙げてください」）。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400" kern="0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 —  主要AI 詳細比較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0" y="50292"/>
            <a:ext cx="9144000" cy="9601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594360" y="118872"/>
            <a:ext cx="6400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— Gemini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94360" y="59436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3.1 Pro / Flash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949440" y="201168"/>
            <a:ext cx="1792224" cy="237744"/>
          </a:xfrm>
          <a:prstGeom prst="roundRect">
            <a:avLst>
              <a:gd name="adj" fmla="val 19231"/>
            </a:avLst>
          </a:prstGeom>
          <a:solidFill>
            <a:srgbClr val="F0F4FF"/>
          </a:solidFill>
          <a:ln/>
        </p:spPr>
      </p:sp>
      <p:sp>
        <p:nvSpPr>
          <p:cNvPr id="8" name="Text 6"/>
          <p:cNvSpPr/>
          <p:nvPr/>
        </p:nvSpPr>
        <p:spPr>
          <a:xfrm>
            <a:off x="6949440" y="201168"/>
            <a:ext cx="179222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推論・Google連携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94360" y="1115568"/>
            <a:ext cx="8321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Googleが開発するマルチモーダルAI。Googleサービスとの深い統合が最大の強み。2026年2月にリリースされたGemini 3.1 Proは推論力が前モデルの2倍以上に向上。Google WorkspaceやGmailを日常的に使う環境で圧倒的な生産性向上を実現。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94360" y="166420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強み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94360" y="1993392"/>
            <a:ext cx="50292" cy="2743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749808" y="1938528"/>
            <a:ext cx="3657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Workspace完全統合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49808" y="2157984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Gmail・スプレッドシート・ドライブのファイルを直接参照して作業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94360" y="2432304"/>
            <a:ext cx="50292" cy="2743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5" name="Text 13"/>
          <p:cNvSpPr/>
          <p:nvPr/>
        </p:nvSpPr>
        <p:spPr>
          <a:xfrm>
            <a:off x="749808" y="2377440"/>
            <a:ext cx="3657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長文・PDFの読解が得意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49808" y="2596896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数百ページの書籍・資料も一度に処理。文脈理解力が高い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94360" y="2871216"/>
            <a:ext cx="50292" cy="2743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8" name="Text 16"/>
          <p:cNvSpPr/>
          <p:nvPr/>
        </p:nvSpPr>
        <p:spPr>
          <a:xfrm>
            <a:off x="749808" y="2816352"/>
            <a:ext cx="3657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マルチモーダル理解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49808" y="3035808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画像・動画・音声・テキストを統合的に理解。会議動画→議事録も自動化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94360" y="3310128"/>
            <a:ext cx="50292" cy="2743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749808" y="3255264"/>
            <a:ext cx="3657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リアルタイムWeb検索統合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49808" y="347472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最新情報をリアルタイムで取得・統合して回答を生成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754880" y="1664208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注意点・弱み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754880" y="2011680"/>
            <a:ext cx="164592" cy="164592"/>
          </a:xfrm>
          <a:prstGeom prst="ellipse">
            <a:avLst/>
          </a:prstGeom>
          <a:solidFill>
            <a:srgbClr val="991B1B"/>
          </a:solidFill>
          <a:ln/>
        </p:spPr>
      </p:sp>
      <p:sp>
        <p:nvSpPr>
          <p:cNvPr id="25" name="Text 23"/>
          <p:cNvSpPr/>
          <p:nvPr/>
        </p:nvSpPr>
        <p:spPr>
          <a:xfrm>
            <a:off x="5029200" y="1975104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Google製品を使っていないと強みが半減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754880" y="2450592"/>
            <a:ext cx="164592" cy="164592"/>
          </a:xfrm>
          <a:prstGeom prst="ellipse">
            <a:avLst/>
          </a:prstGeom>
          <a:solidFill>
            <a:srgbClr val="991B1B"/>
          </a:solidFill>
          <a:ln/>
        </p:spPr>
      </p:sp>
      <p:sp>
        <p:nvSpPr>
          <p:cNvPr id="27" name="Text 25"/>
          <p:cNvSpPr/>
          <p:nvPr/>
        </p:nvSpPr>
        <p:spPr>
          <a:xfrm>
            <a:off x="5029200" y="2414016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コーディング特化タスクではClaudeに劣る場面も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754880" y="2889504"/>
            <a:ext cx="164592" cy="164592"/>
          </a:xfrm>
          <a:prstGeom prst="ellipse">
            <a:avLst/>
          </a:prstGeom>
          <a:solidFill>
            <a:srgbClr val="991B1B"/>
          </a:solidFill>
          <a:ln/>
        </p:spPr>
      </p:sp>
      <p:sp>
        <p:nvSpPr>
          <p:cNvPr id="29" name="Text 27"/>
          <p:cNvSpPr/>
          <p:nvPr/>
        </p:nvSpPr>
        <p:spPr>
          <a:xfrm>
            <a:off x="5029200" y="285292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データプライバシーはGoogleポリシーに準拠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400" kern="0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 —  主要AI 詳細比較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48640" y="47548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— 具体的な活用方法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475488"/>
            <a:ext cx="50292" cy="5029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0" y="0"/>
            <a:ext cx="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548640" y="1115568"/>
            <a:ext cx="4069080" cy="1051560"/>
          </a:xfrm>
          <a:prstGeom prst="rect">
            <a:avLst/>
          </a:prstGeom>
          <a:solidFill>
            <a:srgbClr val="F0F4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115568"/>
            <a:ext cx="4069080" cy="5029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658368" y="1188720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Googleドキュメント自動生成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58368" y="1435608"/>
            <a:ext cx="3840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「先週のミーティングメモを元に議事録を作って」とGoogleドライブのファイルを直接参照して生成。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846320" y="1115568"/>
            <a:ext cx="4069080" cy="1051560"/>
          </a:xfrm>
          <a:prstGeom prst="rect">
            <a:avLst/>
          </a:prstGeom>
          <a:solidFill>
            <a:srgbClr val="F0F4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846320" y="1115568"/>
            <a:ext cx="4069080" cy="5029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4956048" y="1188720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Gmail下書き・返信の自動化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956048" y="1435608"/>
            <a:ext cx="3840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受信メールの文脈を理解して最適な返信文を生成。トーン・長さをワンクリックで調整。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48640" y="2286000"/>
            <a:ext cx="4069080" cy="1051560"/>
          </a:xfrm>
          <a:prstGeom prst="rect">
            <a:avLst/>
          </a:prstGeom>
          <a:solidFill>
            <a:srgbClr val="F0F4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2286000"/>
            <a:ext cx="4069080" cy="5029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658368" y="2359152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会議録画→議事録変換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58368" y="2606040"/>
            <a:ext cx="3840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音声・映像・スライドを同時に解析し、発言者別・議題別の包括的な議事録を自動生成。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846320" y="2286000"/>
            <a:ext cx="4069080" cy="1051560"/>
          </a:xfrm>
          <a:prstGeom prst="rect">
            <a:avLst/>
          </a:prstGeom>
          <a:solidFill>
            <a:srgbClr val="F0F4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846320" y="2286000"/>
            <a:ext cx="4069080" cy="5029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4956048" y="2359152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Webリサーチ→スプレッドシート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956048" y="2606040"/>
            <a:ext cx="3840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競合他社の価格・製品情報をWeb収集し、Googleスプレッドシートに自動整理・比較表を作成。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48640" y="4681728"/>
            <a:ext cx="8046720" cy="3657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4" name="Text 22"/>
          <p:cNvSpPr/>
          <p:nvPr/>
        </p:nvSpPr>
        <p:spPr>
          <a:xfrm>
            <a:off x="685800" y="4709160"/>
            <a:ext cx="7818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TIPS: </a:t>
            </a:r>
            <a:pPr indent="0" marL="0">
              <a:buNone/>
            </a:pPr>
            <a:r>
              <a:rPr lang="en-US" sz="1050" dirty="0">
                <a:solidFill>
                  <a:srgbClr val="AAB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Geminiの真価はGoogle Workspaceとの連携。「Gmailの〇〇さんからのメールを参照して…」「ドライブの〇〇ファイルを元に…」のようにファイル名・送信者名を直接指定できる。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400" kern="0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 —  主要AI 詳細比較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0" y="50292"/>
            <a:ext cx="9144000" cy="960120"/>
          </a:xfrm>
          <a:prstGeom prst="rect">
            <a:avLst/>
          </a:prstGeom>
          <a:solidFill>
            <a:srgbClr val="4A6FA5"/>
          </a:solidFill>
          <a:ln/>
        </p:spPr>
      </p:sp>
      <p:sp>
        <p:nvSpPr>
          <p:cNvPr id="5" name="Text 3"/>
          <p:cNvSpPr/>
          <p:nvPr/>
        </p:nvSpPr>
        <p:spPr>
          <a:xfrm>
            <a:off x="594360" y="118872"/>
            <a:ext cx="6400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— Llama 4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94360" y="59436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 4 Scout / Maverick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949440" y="201168"/>
            <a:ext cx="1792224" cy="237744"/>
          </a:xfrm>
          <a:prstGeom prst="roundRect">
            <a:avLst>
              <a:gd name="adj" fmla="val 19231"/>
            </a:avLst>
          </a:prstGeom>
          <a:solidFill>
            <a:srgbClr val="F0F4FF"/>
          </a:solidFill>
          <a:ln/>
        </p:spPr>
      </p:sp>
      <p:sp>
        <p:nvSpPr>
          <p:cNvPr id="8" name="Text 6"/>
          <p:cNvSpPr/>
          <p:nvPr/>
        </p:nvSpPr>
        <p:spPr>
          <a:xfrm>
            <a:off x="6949440" y="201168"/>
            <a:ext cx="179222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オープン・カスタマイズ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94360" y="1115568"/>
            <a:ext cx="8321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が開発するオープンウェイトAI。モデルの重みを公開しており、自社サーバーやクラウドに独自デプロイが可能。データをクラウドサービスに渡せない業種（医療・法律・金融）での採用が増加中。2026年のAI設備投資は最大1,350億ドル。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94360" y="166420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強み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94360" y="1993392"/>
            <a:ext cx="50292" cy="274320"/>
          </a:xfrm>
          <a:prstGeom prst="rect">
            <a:avLst/>
          </a:prstGeom>
          <a:solidFill>
            <a:srgbClr val="4A6FA5"/>
          </a:solidFill>
          <a:ln/>
        </p:spPr>
      </p:sp>
      <p:sp>
        <p:nvSpPr>
          <p:cNvPr id="12" name="Text 10"/>
          <p:cNvSpPr/>
          <p:nvPr/>
        </p:nvSpPr>
        <p:spPr>
          <a:xfrm>
            <a:off x="749808" y="1938528"/>
            <a:ext cx="3657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完全自社環境で運用可能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49808" y="2157984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外部APIに依存せず、社内サーバーで動かせるため情報漏洩リスクがゼロ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94360" y="2432304"/>
            <a:ext cx="50292" cy="274320"/>
          </a:xfrm>
          <a:prstGeom prst="rect">
            <a:avLst/>
          </a:prstGeom>
          <a:solidFill>
            <a:srgbClr val="4A6FA5"/>
          </a:solidFill>
          <a:ln/>
        </p:spPr>
      </p:sp>
      <p:sp>
        <p:nvSpPr>
          <p:cNvPr id="15" name="Text 13"/>
          <p:cNvSpPr/>
          <p:nvPr/>
        </p:nvSpPr>
        <p:spPr>
          <a:xfrm>
            <a:off x="749808" y="2377440"/>
            <a:ext cx="3657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カスタマイズの自由度が最高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49808" y="2596896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独自データでファインチューニングし、自社業務に特化したモデルを作れる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94360" y="2871216"/>
            <a:ext cx="50292" cy="274320"/>
          </a:xfrm>
          <a:prstGeom prst="rect">
            <a:avLst/>
          </a:prstGeom>
          <a:solidFill>
            <a:srgbClr val="4A6FA5"/>
          </a:solidFill>
          <a:ln/>
        </p:spPr>
      </p:sp>
      <p:sp>
        <p:nvSpPr>
          <p:cNvPr id="18" name="Text 16"/>
          <p:cNvSpPr/>
          <p:nvPr/>
        </p:nvSpPr>
        <p:spPr>
          <a:xfrm>
            <a:off x="749808" y="2816352"/>
            <a:ext cx="3657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コストが低い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49808" y="3035808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APIコストがかからず、大量処理でもコストが一定。エッジデバイスへの組み込みも可能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94360" y="3310128"/>
            <a:ext cx="50292" cy="274320"/>
          </a:xfrm>
          <a:prstGeom prst="rect">
            <a:avLst/>
          </a:prstGeom>
          <a:solidFill>
            <a:srgbClr val="4A6FA5"/>
          </a:solidFill>
          <a:ln/>
        </p:spPr>
      </p:sp>
      <p:sp>
        <p:nvSpPr>
          <p:cNvPr id="21" name="Text 19"/>
          <p:cNvSpPr/>
          <p:nvPr/>
        </p:nvSpPr>
        <p:spPr>
          <a:xfrm>
            <a:off x="749808" y="3255264"/>
            <a:ext cx="3657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長大コンテキスト対応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49808" y="347472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Maverick版は超長文のドキュメント処理に対応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754880" y="1664208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注意点・弱み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754880" y="2011680"/>
            <a:ext cx="164592" cy="164592"/>
          </a:xfrm>
          <a:prstGeom prst="ellipse">
            <a:avLst/>
          </a:prstGeom>
          <a:solidFill>
            <a:srgbClr val="991B1B"/>
          </a:solidFill>
          <a:ln/>
        </p:spPr>
      </p:sp>
      <p:sp>
        <p:nvSpPr>
          <p:cNvPr id="25" name="Text 23"/>
          <p:cNvSpPr/>
          <p:nvPr/>
        </p:nvSpPr>
        <p:spPr>
          <a:xfrm>
            <a:off x="5029200" y="1975104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セットアップに技術的なスキルが必要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754880" y="2450592"/>
            <a:ext cx="164592" cy="164592"/>
          </a:xfrm>
          <a:prstGeom prst="ellipse">
            <a:avLst/>
          </a:prstGeom>
          <a:solidFill>
            <a:srgbClr val="991B1B"/>
          </a:solidFill>
          <a:ln/>
        </p:spPr>
      </p:sp>
      <p:sp>
        <p:nvSpPr>
          <p:cNvPr id="27" name="Text 25"/>
          <p:cNvSpPr/>
          <p:nvPr/>
        </p:nvSpPr>
        <p:spPr>
          <a:xfrm>
            <a:off x="5029200" y="2414016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UIは自前で用意する必要がある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754880" y="2889504"/>
            <a:ext cx="164592" cy="164592"/>
          </a:xfrm>
          <a:prstGeom prst="ellipse">
            <a:avLst/>
          </a:prstGeom>
          <a:solidFill>
            <a:srgbClr val="991B1B"/>
          </a:solidFill>
          <a:ln/>
        </p:spPr>
      </p:sp>
      <p:sp>
        <p:nvSpPr>
          <p:cNvPr id="29" name="Text 27"/>
          <p:cNvSpPr/>
          <p:nvPr/>
        </p:nvSpPr>
        <p:spPr>
          <a:xfrm>
            <a:off x="5029200" y="285292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モデル運用・更新の管理コストがかかる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400" kern="0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 —  主要AI 詳細比較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48640" y="47548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Llama — 具体的な活用方法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475488"/>
            <a:ext cx="50292" cy="502920"/>
          </a:xfrm>
          <a:prstGeom prst="rect">
            <a:avLst/>
          </a:prstGeom>
          <a:solidFill>
            <a:srgbClr val="4A6FA5"/>
          </a:solidFill>
          <a:ln/>
        </p:spPr>
      </p:sp>
      <p:sp>
        <p:nvSpPr>
          <p:cNvPr id="6" name="Text 4"/>
          <p:cNvSpPr/>
          <p:nvPr/>
        </p:nvSpPr>
        <p:spPr>
          <a:xfrm>
            <a:off x="0" y="0"/>
            <a:ext cx="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548640" y="1115568"/>
            <a:ext cx="4069080" cy="1051560"/>
          </a:xfrm>
          <a:prstGeom prst="rect">
            <a:avLst/>
          </a:prstGeom>
          <a:solidFill>
            <a:srgbClr val="F0F4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115568"/>
            <a:ext cx="4069080" cy="50292"/>
          </a:xfrm>
          <a:prstGeom prst="rect">
            <a:avLst/>
          </a:prstGeom>
          <a:solidFill>
            <a:srgbClr val="4A6FA5"/>
          </a:solidFill>
          <a:ln/>
        </p:spPr>
      </p:sp>
      <p:sp>
        <p:nvSpPr>
          <p:cNvPr id="9" name="Text 7"/>
          <p:cNvSpPr/>
          <p:nvPr/>
        </p:nvSpPr>
        <p:spPr>
          <a:xfrm>
            <a:off x="658368" y="1188720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社内専用AIの構築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58368" y="1435608"/>
            <a:ext cx="3840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自社の製品マニュアル・社内規定・過去案件データで学習させ、外部に情報を出さない完全内製AIを構築。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846320" y="1115568"/>
            <a:ext cx="4069080" cy="1051560"/>
          </a:xfrm>
          <a:prstGeom prst="rect">
            <a:avLst/>
          </a:prstGeom>
          <a:solidFill>
            <a:srgbClr val="F0F4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846320" y="1115568"/>
            <a:ext cx="4069080" cy="50292"/>
          </a:xfrm>
          <a:prstGeom prst="rect">
            <a:avLst/>
          </a:prstGeom>
          <a:solidFill>
            <a:srgbClr val="4A6FA5"/>
          </a:solidFill>
          <a:ln/>
        </p:spPr>
      </p:sp>
      <p:sp>
        <p:nvSpPr>
          <p:cNvPr id="13" name="Text 11"/>
          <p:cNvSpPr/>
          <p:nvPr/>
        </p:nvSpPr>
        <p:spPr>
          <a:xfrm>
            <a:off x="4956048" y="1188720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機密データの処理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956048" y="1435608"/>
            <a:ext cx="3840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医療カルテ・法的文書・財務情報など、クラウドに上げられないデータをローカル環境で安全に分析。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48640" y="2286000"/>
            <a:ext cx="4069080" cy="1051560"/>
          </a:xfrm>
          <a:prstGeom prst="rect">
            <a:avLst/>
          </a:prstGeom>
          <a:solidFill>
            <a:srgbClr val="F0F4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2286000"/>
            <a:ext cx="4069080" cy="50292"/>
          </a:xfrm>
          <a:prstGeom prst="rect">
            <a:avLst/>
          </a:prstGeom>
          <a:solidFill>
            <a:srgbClr val="4A6FA5"/>
          </a:solidFill>
          <a:ln/>
        </p:spPr>
      </p:sp>
      <p:sp>
        <p:nvSpPr>
          <p:cNvPr id="17" name="Text 15"/>
          <p:cNvSpPr/>
          <p:nvPr/>
        </p:nvSpPr>
        <p:spPr>
          <a:xfrm>
            <a:off x="658368" y="2359152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大量バッチ処理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58368" y="2606040"/>
            <a:ext cx="3840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APIコストを気にせず、数万件の文書分類・翻訳・要約を夜間バッチで自動処理。コスト予測が立てやすい。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846320" y="2286000"/>
            <a:ext cx="4069080" cy="1051560"/>
          </a:xfrm>
          <a:prstGeom prst="rect">
            <a:avLst/>
          </a:prstGeom>
          <a:solidFill>
            <a:srgbClr val="F0F4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846320" y="2286000"/>
            <a:ext cx="4069080" cy="50292"/>
          </a:xfrm>
          <a:prstGeom prst="rect">
            <a:avLst/>
          </a:prstGeom>
          <a:solidFill>
            <a:srgbClr val="4A6FA5"/>
          </a:solidFill>
          <a:ln/>
        </p:spPr>
      </p:sp>
      <p:sp>
        <p:nvSpPr>
          <p:cNvPr id="21" name="Text 19"/>
          <p:cNvSpPr/>
          <p:nvPr/>
        </p:nvSpPr>
        <p:spPr>
          <a:xfrm>
            <a:off x="4956048" y="2359152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エッジデバイス組み込み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956048" y="2606040"/>
            <a:ext cx="3840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スマート工場の検査機器・店舗端末・車載システムに軽量版Llamaを組み込み、オフライン動作を実現。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48640" y="4681728"/>
            <a:ext cx="8046720" cy="3657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4" name="Text 22"/>
          <p:cNvSpPr/>
          <p:nvPr/>
        </p:nvSpPr>
        <p:spPr>
          <a:xfrm>
            <a:off x="685800" y="4709160"/>
            <a:ext cx="7818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TIPS: </a:t>
            </a:r>
            <a:pPr indent="0" marL="0">
              <a:buNone/>
            </a:pPr>
            <a:r>
              <a:rPr lang="en-US" sz="1050" dirty="0">
                <a:solidFill>
                  <a:srgbClr val="AAB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Llamaは「自社データを守りながらAIを活用したい」企業向け。AWSやGCPのマネージドサービス（Amazon Bedrock等）を使えばサーバー管理不要でLlamaを使える近道も。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400" kern="0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 —  主要AI 詳細比較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48640" y="47548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xAI Grok / Microsoft Copilot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02920" y="1097280"/>
            <a:ext cx="4023360" cy="50292"/>
          </a:xfrm>
          <a:prstGeom prst="rect">
            <a:avLst/>
          </a:prstGeom>
          <a:solidFill>
            <a:srgbClr val="991B1B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170432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xAI — Grok 4.20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02920" y="1463040"/>
            <a:ext cx="3977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X（旧Twitter）とリアルタイム連携。トレンド分析・最新情報キャッチに特化。SNS投稿データを学習し、今この瞬間の世論・市場動向を把握するのが得意。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30352" y="2249424"/>
            <a:ext cx="137160" cy="137160"/>
          </a:xfrm>
          <a:prstGeom prst="ellipse">
            <a:avLst/>
          </a:prstGeom>
          <a:solidFill>
            <a:srgbClr val="991B1B"/>
          </a:solidFill>
          <a:ln/>
        </p:spPr>
      </p:sp>
      <p:sp>
        <p:nvSpPr>
          <p:cNvPr id="9" name="Text 7"/>
          <p:cNvSpPr/>
          <p:nvPr/>
        </p:nvSpPr>
        <p:spPr>
          <a:xfrm>
            <a:off x="749808" y="221284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SNSのリアルタイムトレンド分析・バイラル予測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30352" y="2596896"/>
            <a:ext cx="137160" cy="137160"/>
          </a:xfrm>
          <a:prstGeom prst="ellipse">
            <a:avLst/>
          </a:prstGeom>
          <a:solidFill>
            <a:srgbClr val="991B1B"/>
          </a:solidFill>
          <a:ln/>
        </p:spPr>
      </p:sp>
      <p:sp>
        <p:nvSpPr>
          <p:cNvPr id="11" name="Text 9"/>
          <p:cNvSpPr/>
          <p:nvPr/>
        </p:nvSpPr>
        <p:spPr>
          <a:xfrm>
            <a:off x="749808" y="256032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ニュース速報の即時要約と背景解説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30352" y="2944368"/>
            <a:ext cx="137160" cy="137160"/>
          </a:xfrm>
          <a:prstGeom prst="ellipse">
            <a:avLst/>
          </a:prstGeom>
          <a:solidFill>
            <a:srgbClr val="991B1B"/>
          </a:solidFill>
          <a:ln/>
        </p:spPr>
      </p:sp>
      <p:sp>
        <p:nvSpPr>
          <p:cNvPr id="13" name="Text 11"/>
          <p:cNvSpPr/>
          <p:nvPr/>
        </p:nvSpPr>
        <p:spPr>
          <a:xfrm>
            <a:off x="749808" y="290779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X上の競合・業界の最新動向モニタリング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30352" y="3291840"/>
            <a:ext cx="137160" cy="137160"/>
          </a:xfrm>
          <a:prstGeom prst="ellipse">
            <a:avLst/>
          </a:prstGeom>
          <a:solidFill>
            <a:srgbClr val="991B1B"/>
          </a:solidFill>
          <a:ln/>
        </p:spPr>
      </p:sp>
      <p:sp>
        <p:nvSpPr>
          <p:cNvPr id="15" name="Text 13"/>
          <p:cNvSpPr/>
          <p:nvPr/>
        </p:nvSpPr>
        <p:spPr>
          <a:xfrm>
            <a:off x="749808" y="3255264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ソーシャルリスニングと感情分析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800600" y="1097280"/>
            <a:ext cx="4023360" cy="5029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4800600" y="1170432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— Copilot for M365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800600" y="1463040"/>
            <a:ext cx="3977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Word・Excel・PowerPoint・Outlook・Teamsに深く統合。GPT-5ベースのモデルを採用しながら、Office業務に特化した実行能力を持つ。M365を使う企業のIT部門から最も導入しやすい。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828032" y="2249424"/>
            <a:ext cx="137160" cy="1371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0" name="Text 18"/>
          <p:cNvSpPr/>
          <p:nvPr/>
        </p:nvSpPr>
        <p:spPr>
          <a:xfrm>
            <a:off x="5047488" y="221284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Outlookで受信メールの要約・返信文生成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828032" y="2596896"/>
            <a:ext cx="137160" cy="1371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2" name="Text 20"/>
          <p:cNvSpPr/>
          <p:nvPr/>
        </p:nvSpPr>
        <p:spPr>
          <a:xfrm>
            <a:off x="5047488" y="256032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WordでAIが文書の構造・内容を自動提案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828032" y="2944368"/>
            <a:ext cx="137160" cy="1371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4" name="Text 22"/>
          <p:cNvSpPr/>
          <p:nvPr/>
        </p:nvSpPr>
        <p:spPr>
          <a:xfrm>
            <a:off x="5047488" y="290779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Excelで自然言語によるデータ分析・グラフ化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828032" y="3291840"/>
            <a:ext cx="137160" cy="1371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6" name="Text 24"/>
          <p:cNvSpPr/>
          <p:nvPr/>
        </p:nvSpPr>
        <p:spPr>
          <a:xfrm>
            <a:off x="5047488" y="3255264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PowerPointでスライドの自動生成・デザイン改善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502920" y="3611880"/>
            <a:ext cx="8321040" cy="1353312"/>
          </a:xfrm>
          <a:prstGeom prst="rect">
            <a:avLst/>
          </a:prstGeom>
          <a:solidFill>
            <a:srgbClr val="F0F4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58368" y="3685032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使い分けのポイント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58368" y="4041648"/>
            <a:ext cx="1234440" cy="2743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0" name="Text 28"/>
          <p:cNvSpPr/>
          <p:nvPr/>
        </p:nvSpPr>
        <p:spPr>
          <a:xfrm>
            <a:off x="658368" y="4050792"/>
            <a:ext cx="1234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Grok向き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1993392" y="4041648"/>
            <a:ext cx="6675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今日のXトレンドを知りたい・SNSマーケ担当者・リアルタイム情報が業務の肝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58368" y="4453128"/>
            <a:ext cx="1234440" cy="2743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3" name="Text 31"/>
          <p:cNvSpPr/>
          <p:nvPr/>
        </p:nvSpPr>
        <p:spPr>
          <a:xfrm>
            <a:off x="658368" y="4462272"/>
            <a:ext cx="1234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Copilot向き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1993392" y="4453128"/>
            <a:ext cx="6675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M365ユーザー・Office書類が多い・ITリテラシーが高くないチームへの展開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400" kern="0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 —  主要AI 詳細比較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48640" y="47548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用途別 AI 選び方チートシート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02920" y="1069848"/>
            <a:ext cx="832104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1792" y="1161288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文章作成・ライティング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39312" y="1161288"/>
            <a:ext cx="1920240" cy="256032"/>
          </a:xfrm>
          <a:prstGeom prst="roundRect">
            <a:avLst>
              <a:gd name="adj" fmla="val 14286"/>
            </a:avLst>
          </a:prstGeom>
          <a:solidFill>
            <a:srgbClr val="4C1D95"/>
          </a:solidFill>
          <a:ln/>
        </p:spPr>
      </p:sp>
      <p:sp>
        <p:nvSpPr>
          <p:cNvPr id="8" name="Text 6"/>
          <p:cNvSpPr/>
          <p:nvPr/>
        </p:nvSpPr>
        <p:spPr>
          <a:xfrm>
            <a:off x="3639312" y="1161288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687568" y="1161288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日本語の自然さ・論理的構成力が最高水準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02920" y="1563624"/>
            <a:ext cx="8321040" cy="438912"/>
          </a:xfrm>
          <a:prstGeom prst="rect">
            <a:avLst/>
          </a:prstGeom>
          <a:solidFill>
            <a:srgbClr val="F0F4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1792" y="1655064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汎用・迷ったときの第一選択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39312" y="1655064"/>
            <a:ext cx="1920240" cy="256032"/>
          </a:xfrm>
          <a:prstGeom prst="roundRect">
            <a:avLst>
              <a:gd name="adj" fmla="val 14286"/>
            </a:avLst>
          </a:prstGeom>
          <a:solidFill>
            <a:srgbClr val="0F6E56"/>
          </a:solidFill>
          <a:ln/>
        </p:spPr>
      </p:sp>
      <p:sp>
        <p:nvSpPr>
          <p:cNvPr id="13" name="Text 11"/>
          <p:cNvSpPr/>
          <p:nvPr/>
        </p:nvSpPr>
        <p:spPr>
          <a:xfrm>
            <a:off x="3639312" y="1655064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687568" y="1655064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機能・拡張性・ユーザー数すべてバランスよく高水準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02920" y="2057400"/>
            <a:ext cx="832104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1792" y="2148840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Workspaceと連携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39312" y="2148840"/>
            <a:ext cx="1920240" cy="256032"/>
          </a:xfrm>
          <a:prstGeom prst="roundRect">
            <a:avLst>
              <a:gd name="adj" fmla="val 14286"/>
            </a:avLst>
          </a:prstGeom>
          <a:solidFill>
            <a:srgbClr val="1E2761"/>
          </a:solidFill>
          <a:ln/>
        </p:spPr>
      </p:sp>
      <p:sp>
        <p:nvSpPr>
          <p:cNvPr id="18" name="Text 16"/>
          <p:cNvSpPr/>
          <p:nvPr/>
        </p:nvSpPr>
        <p:spPr>
          <a:xfrm>
            <a:off x="3639312" y="214884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687568" y="2148840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Gmail・ドライブ・スプレッドシートと直接連携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02920" y="2551176"/>
            <a:ext cx="8321040" cy="438912"/>
          </a:xfrm>
          <a:prstGeom prst="rect">
            <a:avLst/>
          </a:prstGeom>
          <a:solidFill>
            <a:srgbClr val="F0F4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1792" y="2642616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コーディング・開発支援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39312" y="2642616"/>
            <a:ext cx="1920240" cy="256032"/>
          </a:xfrm>
          <a:prstGeom prst="roundRect">
            <a:avLst>
              <a:gd name="adj" fmla="val 14286"/>
            </a:avLst>
          </a:prstGeom>
          <a:solidFill>
            <a:srgbClr val="4C1D95"/>
          </a:solidFill>
          <a:ln/>
        </p:spPr>
      </p:sp>
      <p:sp>
        <p:nvSpPr>
          <p:cNvPr id="23" name="Text 21"/>
          <p:cNvSpPr/>
          <p:nvPr/>
        </p:nvSpPr>
        <p:spPr>
          <a:xfrm>
            <a:off x="3639312" y="2642616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/ ChatGPT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687568" y="2642616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Codeが自律実行。ChatGPTのCodexも高機能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02920" y="3044952"/>
            <a:ext cx="832104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1792" y="3136392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Office（Word・Excel）業務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39312" y="3136392"/>
            <a:ext cx="1920240" cy="256032"/>
          </a:xfrm>
          <a:prstGeom prst="roundRect">
            <a:avLst>
              <a:gd name="adj" fmla="val 14286"/>
            </a:avLst>
          </a:prstGeom>
          <a:solidFill>
            <a:srgbClr val="4A6FA5"/>
          </a:solidFill>
          <a:ln/>
        </p:spPr>
      </p:sp>
      <p:sp>
        <p:nvSpPr>
          <p:cNvPr id="28" name="Text 26"/>
          <p:cNvSpPr/>
          <p:nvPr/>
        </p:nvSpPr>
        <p:spPr>
          <a:xfrm>
            <a:off x="3639312" y="3136392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5687568" y="3136392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M365に統合済み。スキル不要で即使える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02920" y="3538728"/>
            <a:ext cx="8321040" cy="438912"/>
          </a:xfrm>
          <a:prstGeom prst="rect">
            <a:avLst/>
          </a:prstGeom>
          <a:solidFill>
            <a:srgbClr val="F0F4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21792" y="3630168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リアルタイム・SNS情報収集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639312" y="3630168"/>
            <a:ext cx="1920240" cy="256032"/>
          </a:xfrm>
          <a:prstGeom prst="roundRect">
            <a:avLst>
              <a:gd name="adj" fmla="val 14286"/>
            </a:avLst>
          </a:prstGeom>
          <a:solidFill>
            <a:srgbClr val="991B1B"/>
          </a:solidFill>
          <a:ln/>
        </p:spPr>
      </p:sp>
      <p:sp>
        <p:nvSpPr>
          <p:cNvPr id="33" name="Text 31"/>
          <p:cNvSpPr/>
          <p:nvPr/>
        </p:nvSpPr>
        <p:spPr>
          <a:xfrm>
            <a:off x="3639312" y="3630168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Grok / ChatGPT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5687568" y="3630168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GrokはX特化。ChatGPTはWeb検索統合で最新情報対応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02920" y="4032504"/>
            <a:ext cx="832104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21792" y="4123944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機密データ・社内専用AI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3639312" y="4123944"/>
            <a:ext cx="1920240" cy="256032"/>
          </a:xfrm>
          <a:prstGeom prst="roundRect">
            <a:avLst>
              <a:gd name="adj" fmla="val 14286"/>
            </a:avLst>
          </a:prstGeom>
          <a:solidFill>
            <a:srgbClr val="4A6FA5"/>
          </a:solidFill>
          <a:ln/>
        </p:spPr>
      </p:sp>
      <p:sp>
        <p:nvSpPr>
          <p:cNvPr id="38" name="Text 36"/>
          <p:cNvSpPr/>
          <p:nvPr/>
        </p:nvSpPr>
        <p:spPr>
          <a:xfrm>
            <a:off x="3639312" y="4123944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Llama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5687568" y="4123944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オープンウェイトで自社環境に完全閉じた運用が可能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502920" y="4526280"/>
            <a:ext cx="8321040" cy="438912"/>
          </a:xfrm>
          <a:prstGeom prst="rect">
            <a:avLst/>
          </a:prstGeom>
          <a:solidFill>
            <a:srgbClr val="F0F4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21792" y="4617720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深い推論・難問解決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3639312" y="4617720"/>
            <a:ext cx="1920240" cy="256032"/>
          </a:xfrm>
          <a:prstGeom prst="roundRect">
            <a:avLst>
              <a:gd name="adj" fmla="val 14286"/>
            </a:avLst>
          </a:prstGeom>
          <a:solidFill>
            <a:srgbClr val="0F6E56"/>
          </a:solidFill>
          <a:ln/>
        </p:spPr>
      </p:sp>
      <p:sp>
        <p:nvSpPr>
          <p:cNvPr id="43" name="Text 41"/>
          <p:cNvSpPr/>
          <p:nvPr/>
        </p:nvSpPr>
        <p:spPr>
          <a:xfrm>
            <a:off x="3639312" y="461772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ChatGPT（Thinking）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5687568" y="4617720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Test-time computeで難問を段階的に解く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3" name="Shape 1"/>
          <p:cNvSpPr/>
          <p:nvPr/>
        </p:nvSpPr>
        <p:spPr>
          <a:xfrm>
            <a:off x="6583680" y="-731520"/>
            <a:ext cx="4114800" cy="4114800"/>
          </a:xfrm>
          <a:prstGeom prst="ellipse">
            <a:avLst/>
          </a:prstGeom>
          <a:solidFill>
            <a:srgbClr val="CADCFC">
              <a:alpha val="1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5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1828800"/>
            <a:ext cx="7315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業界別 活用事例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640080" y="29260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AB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製造・医療・金融・教育・マーケティング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0" y="5093208"/>
            <a:ext cx="9144000" cy="50292"/>
          </a:xfrm>
          <a:prstGeom prst="rect">
            <a:avLst/>
          </a:prstGeom>
          <a:solidFill>
            <a:srgbClr val="CADCFC"/>
          </a:solidFill>
          <a:ln/>
        </p:spPr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400" kern="0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 —  業界別 活用事例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48640" y="47548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製造・医療・金融での活用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02920" y="1115568"/>
            <a:ext cx="347472" cy="1005840"/>
          </a:xfrm>
          <a:prstGeom prst="rect">
            <a:avLst/>
          </a:prstGeom>
          <a:solidFill>
            <a:srgbClr val="4A6FA5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111556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製造業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960120" y="1472184"/>
            <a:ext cx="109728" cy="109728"/>
          </a:xfrm>
          <a:prstGeom prst="ellipse">
            <a:avLst/>
          </a:prstGeom>
          <a:solidFill>
            <a:srgbClr val="4A6FA5"/>
          </a:solidFill>
          <a:ln/>
        </p:spPr>
      </p:sp>
      <p:sp>
        <p:nvSpPr>
          <p:cNvPr id="8" name="Text 6"/>
          <p:cNvSpPr/>
          <p:nvPr/>
        </p:nvSpPr>
        <p:spPr>
          <a:xfrm>
            <a:off x="1143000" y="1444752"/>
            <a:ext cx="7498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設備異常の予知保全：センサーデータ+AI解析で故障を事前検知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960120" y="1645920"/>
            <a:ext cx="109728" cy="109728"/>
          </a:xfrm>
          <a:prstGeom prst="ellipse">
            <a:avLst/>
          </a:prstGeom>
          <a:solidFill>
            <a:srgbClr val="4A6FA5"/>
          </a:solidFill>
          <a:ln/>
        </p:spPr>
      </p:sp>
      <p:sp>
        <p:nvSpPr>
          <p:cNvPr id="10" name="Text 8"/>
          <p:cNvSpPr/>
          <p:nvPr/>
        </p:nvSpPr>
        <p:spPr>
          <a:xfrm>
            <a:off x="1143000" y="1618488"/>
            <a:ext cx="7498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設計書・マニュアルのナレッジ化：膨大な技術文書を即座に検索・回答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960120" y="1819656"/>
            <a:ext cx="109728" cy="109728"/>
          </a:xfrm>
          <a:prstGeom prst="ellipse">
            <a:avLst/>
          </a:prstGeom>
          <a:solidFill>
            <a:srgbClr val="4A6FA5"/>
          </a:solidFill>
          <a:ln/>
        </p:spPr>
      </p:sp>
      <p:sp>
        <p:nvSpPr>
          <p:cNvPr id="12" name="Text 10"/>
          <p:cNvSpPr/>
          <p:nvPr/>
        </p:nvSpPr>
        <p:spPr>
          <a:xfrm>
            <a:off x="1143000" y="1792224"/>
            <a:ext cx="7498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品質検査の自動化：画像AIで外観不良を0.1秒で検出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960120" y="1993392"/>
            <a:ext cx="109728" cy="109728"/>
          </a:xfrm>
          <a:prstGeom prst="ellipse">
            <a:avLst/>
          </a:prstGeom>
          <a:solidFill>
            <a:srgbClr val="4A6FA5"/>
          </a:solidFill>
          <a:ln/>
        </p:spPr>
      </p:sp>
      <p:sp>
        <p:nvSpPr>
          <p:cNvPr id="14" name="Text 12"/>
          <p:cNvSpPr/>
          <p:nvPr/>
        </p:nvSpPr>
        <p:spPr>
          <a:xfrm>
            <a:off x="1143000" y="1965960"/>
            <a:ext cx="7498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作業員向けAIアシスタント：現場タブレットで手順・トラブル対応を即提示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02920" y="2377440"/>
            <a:ext cx="347472" cy="1005840"/>
          </a:xfrm>
          <a:prstGeom prst="rect">
            <a:avLst/>
          </a:prstGeom>
          <a:solidFill>
            <a:srgbClr val="0F6E56"/>
          </a:solidFill>
          <a:ln/>
        </p:spPr>
      </p:sp>
      <p:sp>
        <p:nvSpPr>
          <p:cNvPr id="16" name="Text 14"/>
          <p:cNvSpPr/>
          <p:nvPr/>
        </p:nvSpPr>
        <p:spPr>
          <a:xfrm>
            <a:off x="960120" y="23774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医療・ヘルスケア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960120" y="2734056"/>
            <a:ext cx="109728" cy="109728"/>
          </a:xfrm>
          <a:prstGeom prst="ellipse">
            <a:avLst/>
          </a:prstGeom>
          <a:solidFill>
            <a:srgbClr val="0F6E56"/>
          </a:solidFill>
          <a:ln/>
        </p:spPr>
      </p:sp>
      <p:sp>
        <p:nvSpPr>
          <p:cNvPr id="18" name="Text 16"/>
          <p:cNvSpPr/>
          <p:nvPr/>
        </p:nvSpPr>
        <p:spPr>
          <a:xfrm>
            <a:off x="1143000" y="2706624"/>
            <a:ext cx="7498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カルテの自動要約・サマリー生成で医師の業務負荷を削減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960120" y="2907792"/>
            <a:ext cx="109728" cy="109728"/>
          </a:xfrm>
          <a:prstGeom prst="ellipse">
            <a:avLst/>
          </a:prstGeom>
          <a:solidFill>
            <a:srgbClr val="0F6E56"/>
          </a:solidFill>
          <a:ln/>
        </p:spPr>
      </p:sp>
      <p:sp>
        <p:nvSpPr>
          <p:cNvPr id="20" name="Text 18"/>
          <p:cNvSpPr/>
          <p:nvPr/>
        </p:nvSpPr>
        <p:spPr>
          <a:xfrm>
            <a:off x="1143000" y="2880360"/>
            <a:ext cx="7498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症状入力→鑑別診断の候補提示（最終判断は医師）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960120" y="3081528"/>
            <a:ext cx="109728" cy="109728"/>
          </a:xfrm>
          <a:prstGeom prst="ellipse">
            <a:avLst/>
          </a:prstGeom>
          <a:solidFill>
            <a:srgbClr val="0F6E56"/>
          </a:solidFill>
          <a:ln/>
        </p:spPr>
      </p:sp>
      <p:sp>
        <p:nvSpPr>
          <p:cNvPr id="22" name="Text 20"/>
          <p:cNvSpPr/>
          <p:nvPr/>
        </p:nvSpPr>
        <p:spPr>
          <a:xfrm>
            <a:off x="1143000" y="3054096"/>
            <a:ext cx="7498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医学論文の最新エビデンスを瞬時に検索・要約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960120" y="3255264"/>
            <a:ext cx="109728" cy="109728"/>
          </a:xfrm>
          <a:prstGeom prst="ellipse">
            <a:avLst/>
          </a:prstGeom>
          <a:solidFill>
            <a:srgbClr val="0F6E56"/>
          </a:solidFill>
          <a:ln/>
        </p:spPr>
      </p:sp>
      <p:sp>
        <p:nvSpPr>
          <p:cNvPr id="24" name="Text 22"/>
          <p:cNvSpPr/>
          <p:nvPr/>
        </p:nvSpPr>
        <p:spPr>
          <a:xfrm>
            <a:off x="1143000" y="3227832"/>
            <a:ext cx="7498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患者向けインフォームドコンセント文書の自動生成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02920" y="3639312"/>
            <a:ext cx="347472" cy="10058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6" name="Text 24"/>
          <p:cNvSpPr/>
          <p:nvPr/>
        </p:nvSpPr>
        <p:spPr>
          <a:xfrm>
            <a:off x="960120" y="363931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金融・保険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960120" y="3995928"/>
            <a:ext cx="109728" cy="1097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8" name="Text 26"/>
          <p:cNvSpPr/>
          <p:nvPr/>
        </p:nvSpPr>
        <p:spPr>
          <a:xfrm>
            <a:off x="1143000" y="3968496"/>
            <a:ext cx="7498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契約書・約款の自動レビューでリスク条項を即時検出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960120" y="4169664"/>
            <a:ext cx="109728" cy="1097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0" name="Text 28"/>
          <p:cNvSpPr/>
          <p:nvPr/>
        </p:nvSpPr>
        <p:spPr>
          <a:xfrm>
            <a:off x="1143000" y="4142232"/>
            <a:ext cx="7498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投資レポートの自動生成：データ→分析文章を数秒で作成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960120" y="4343400"/>
            <a:ext cx="109728" cy="1097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2" name="Text 30"/>
          <p:cNvSpPr/>
          <p:nvPr/>
        </p:nvSpPr>
        <p:spPr>
          <a:xfrm>
            <a:off x="1143000" y="4315968"/>
            <a:ext cx="7498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AML（マネロン対策）：異常取引パターンをAIで検知・報告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960120" y="4517136"/>
            <a:ext cx="109728" cy="1097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4" name="Text 32"/>
          <p:cNvSpPr/>
          <p:nvPr/>
        </p:nvSpPr>
        <p:spPr>
          <a:xfrm>
            <a:off x="1143000" y="4489704"/>
            <a:ext cx="7498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顧客向けFAQボット：24時間対応で問い合わせ工数を大幅削減</a:t>
            </a:r>
            <a:endParaRPr lang="en-US" sz="10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400" kern="0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 —  業界別 活用事例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48640" y="47548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教育・マーケティング・小売での活用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02920" y="1115568"/>
            <a:ext cx="347472" cy="1005840"/>
          </a:xfrm>
          <a:prstGeom prst="rect">
            <a:avLst/>
          </a:prstGeom>
          <a:solidFill>
            <a:srgbClr val="4C1D95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111556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教育・研修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960120" y="1472184"/>
            <a:ext cx="109728" cy="109728"/>
          </a:xfrm>
          <a:prstGeom prst="ellipse">
            <a:avLst/>
          </a:prstGeom>
          <a:solidFill>
            <a:srgbClr val="4C1D95"/>
          </a:solidFill>
          <a:ln/>
        </p:spPr>
      </p:sp>
      <p:sp>
        <p:nvSpPr>
          <p:cNvPr id="8" name="Text 6"/>
          <p:cNvSpPr/>
          <p:nvPr/>
        </p:nvSpPr>
        <p:spPr>
          <a:xfrm>
            <a:off x="1143000" y="1444752"/>
            <a:ext cx="7498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個別最適化学習：生徒の理解度・進度に合わせた問題・解説を自動生成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960120" y="1645920"/>
            <a:ext cx="109728" cy="109728"/>
          </a:xfrm>
          <a:prstGeom prst="ellipse">
            <a:avLst/>
          </a:prstGeom>
          <a:solidFill>
            <a:srgbClr val="4C1D95"/>
          </a:solidFill>
          <a:ln/>
        </p:spPr>
      </p:sp>
      <p:sp>
        <p:nvSpPr>
          <p:cNvPr id="10" name="Text 8"/>
          <p:cNvSpPr/>
          <p:nvPr/>
        </p:nvSpPr>
        <p:spPr>
          <a:xfrm>
            <a:off x="1143000" y="1618488"/>
            <a:ext cx="7498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社内研修コンテンツの自動生成：テキスト→クイズ→解説まで一括作成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960120" y="1819656"/>
            <a:ext cx="109728" cy="109728"/>
          </a:xfrm>
          <a:prstGeom prst="ellipse">
            <a:avLst/>
          </a:prstGeom>
          <a:solidFill>
            <a:srgbClr val="4C1D95"/>
          </a:solidFill>
          <a:ln/>
        </p:spPr>
      </p:sp>
      <p:sp>
        <p:nvSpPr>
          <p:cNvPr id="12" name="Text 10"/>
          <p:cNvSpPr/>
          <p:nvPr/>
        </p:nvSpPr>
        <p:spPr>
          <a:xfrm>
            <a:off x="1143000" y="1792224"/>
            <a:ext cx="7498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教師・講師の採点補助：記述問題の採点基準を学習し、自動採点＋フィードバック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960120" y="1993392"/>
            <a:ext cx="109728" cy="109728"/>
          </a:xfrm>
          <a:prstGeom prst="ellipse">
            <a:avLst/>
          </a:prstGeom>
          <a:solidFill>
            <a:srgbClr val="4C1D95"/>
          </a:solidFill>
          <a:ln/>
        </p:spPr>
      </p:sp>
      <p:sp>
        <p:nvSpPr>
          <p:cNvPr id="14" name="Text 12"/>
          <p:cNvSpPr/>
          <p:nvPr/>
        </p:nvSpPr>
        <p:spPr>
          <a:xfrm>
            <a:off x="1143000" y="1965960"/>
            <a:ext cx="7498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翻訳・多言語対応：教材を複数言語に即時翻訳し、グローバル展開を支援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02920" y="2377440"/>
            <a:ext cx="347472" cy="1005840"/>
          </a:xfrm>
          <a:prstGeom prst="rect">
            <a:avLst/>
          </a:prstGeom>
          <a:solidFill>
            <a:srgbClr val="991B1B"/>
          </a:solidFill>
          <a:ln/>
        </p:spPr>
      </p:sp>
      <p:sp>
        <p:nvSpPr>
          <p:cNvPr id="16" name="Text 14"/>
          <p:cNvSpPr/>
          <p:nvPr/>
        </p:nvSpPr>
        <p:spPr>
          <a:xfrm>
            <a:off x="960120" y="23774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マーケティング・広告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960120" y="2734056"/>
            <a:ext cx="109728" cy="109728"/>
          </a:xfrm>
          <a:prstGeom prst="ellipse">
            <a:avLst/>
          </a:prstGeom>
          <a:solidFill>
            <a:srgbClr val="991B1B"/>
          </a:solidFill>
          <a:ln/>
        </p:spPr>
      </p:sp>
      <p:sp>
        <p:nvSpPr>
          <p:cNvPr id="18" name="Text 16"/>
          <p:cNvSpPr/>
          <p:nvPr/>
        </p:nvSpPr>
        <p:spPr>
          <a:xfrm>
            <a:off x="1143000" y="2706624"/>
            <a:ext cx="7498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ターゲット別コピー大量生成：セグメント×トーン×媒体の組み合わせを一括生産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960120" y="2907792"/>
            <a:ext cx="109728" cy="109728"/>
          </a:xfrm>
          <a:prstGeom prst="ellipse">
            <a:avLst/>
          </a:prstGeom>
          <a:solidFill>
            <a:srgbClr val="991B1B"/>
          </a:solidFill>
          <a:ln/>
        </p:spPr>
      </p:sp>
      <p:sp>
        <p:nvSpPr>
          <p:cNvPr id="20" name="Text 18"/>
          <p:cNvSpPr/>
          <p:nvPr/>
        </p:nvSpPr>
        <p:spPr>
          <a:xfrm>
            <a:off x="1143000" y="2880360"/>
            <a:ext cx="7498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SEO記事・コンテンツの下書き自動化：キーワード設計から本文まで高速生成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960120" y="3081528"/>
            <a:ext cx="109728" cy="109728"/>
          </a:xfrm>
          <a:prstGeom prst="ellipse">
            <a:avLst/>
          </a:prstGeom>
          <a:solidFill>
            <a:srgbClr val="991B1B"/>
          </a:solidFill>
          <a:ln/>
        </p:spPr>
      </p:sp>
      <p:sp>
        <p:nvSpPr>
          <p:cNvPr id="22" name="Text 20"/>
          <p:cNvSpPr/>
          <p:nvPr/>
        </p:nvSpPr>
        <p:spPr>
          <a:xfrm>
            <a:off x="1143000" y="3054096"/>
            <a:ext cx="7498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SNS投稿スケジュール×文案の自動生成：1ヶ月分を数時間で量産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960120" y="3255264"/>
            <a:ext cx="109728" cy="109728"/>
          </a:xfrm>
          <a:prstGeom prst="ellipse">
            <a:avLst/>
          </a:prstGeom>
          <a:solidFill>
            <a:srgbClr val="991B1B"/>
          </a:solidFill>
          <a:ln/>
        </p:spPr>
      </p:sp>
      <p:sp>
        <p:nvSpPr>
          <p:cNvPr id="24" name="Text 22"/>
          <p:cNvSpPr/>
          <p:nvPr/>
        </p:nvSpPr>
        <p:spPr>
          <a:xfrm>
            <a:off x="1143000" y="3227832"/>
            <a:ext cx="7498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広告クリエイティブのA/Bテスト高速化：複数パターンを生成→効果測定→改善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02920" y="3639312"/>
            <a:ext cx="347472" cy="1005840"/>
          </a:xfrm>
          <a:prstGeom prst="rect">
            <a:avLst/>
          </a:prstGeom>
          <a:solidFill>
            <a:srgbClr val="0F6E56"/>
          </a:solidFill>
          <a:ln/>
        </p:spPr>
      </p:sp>
      <p:sp>
        <p:nvSpPr>
          <p:cNvPr id="26" name="Text 24"/>
          <p:cNvSpPr/>
          <p:nvPr/>
        </p:nvSpPr>
        <p:spPr>
          <a:xfrm>
            <a:off x="960120" y="363931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小売・EC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960120" y="3995928"/>
            <a:ext cx="109728" cy="109728"/>
          </a:xfrm>
          <a:prstGeom prst="ellipse">
            <a:avLst/>
          </a:prstGeom>
          <a:solidFill>
            <a:srgbClr val="0F6E56"/>
          </a:solidFill>
          <a:ln/>
        </p:spPr>
      </p:sp>
      <p:sp>
        <p:nvSpPr>
          <p:cNvPr id="28" name="Text 26"/>
          <p:cNvSpPr/>
          <p:nvPr/>
        </p:nvSpPr>
        <p:spPr>
          <a:xfrm>
            <a:off x="1143000" y="3968496"/>
            <a:ext cx="7498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商品説明文の大量自動生成：SKU数千点の文章を一括作成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960120" y="4169664"/>
            <a:ext cx="109728" cy="109728"/>
          </a:xfrm>
          <a:prstGeom prst="ellipse">
            <a:avLst/>
          </a:prstGeom>
          <a:solidFill>
            <a:srgbClr val="0F6E56"/>
          </a:solidFill>
          <a:ln/>
        </p:spPr>
      </p:sp>
      <p:sp>
        <p:nvSpPr>
          <p:cNvPr id="30" name="Text 28"/>
          <p:cNvSpPr/>
          <p:nvPr/>
        </p:nvSpPr>
        <p:spPr>
          <a:xfrm>
            <a:off x="1143000" y="4142232"/>
            <a:ext cx="7498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レビュー分析：大量の顧客レビューからインサイト・改善点を瞬時に抽出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960120" y="4343400"/>
            <a:ext cx="109728" cy="109728"/>
          </a:xfrm>
          <a:prstGeom prst="ellipse">
            <a:avLst/>
          </a:prstGeom>
          <a:solidFill>
            <a:srgbClr val="0F6E56"/>
          </a:solidFill>
          <a:ln/>
        </p:spPr>
      </p:sp>
      <p:sp>
        <p:nvSpPr>
          <p:cNvPr id="32" name="Text 30"/>
          <p:cNvSpPr/>
          <p:nvPr/>
        </p:nvSpPr>
        <p:spPr>
          <a:xfrm>
            <a:off x="1143000" y="4315968"/>
            <a:ext cx="7498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パーソナライズレコメンド：個人の購買履歴・好みに最適化した提案文を生成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960120" y="4517136"/>
            <a:ext cx="109728" cy="109728"/>
          </a:xfrm>
          <a:prstGeom prst="ellipse">
            <a:avLst/>
          </a:prstGeom>
          <a:solidFill>
            <a:srgbClr val="0F6E56"/>
          </a:solidFill>
          <a:ln/>
        </p:spPr>
      </p:sp>
      <p:sp>
        <p:nvSpPr>
          <p:cNvPr id="34" name="Text 32"/>
          <p:cNvSpPr/>
          <p:nvPr/>
        </p:nvSpPr>
        <p:spPr>
          <a:xfrm>
            <a:off x="1143000" y="4489704"/>
            <a:ext cx="7498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カスタマーサポートの24時間自動化：FAQ・返品対応・注文確認を完全自動対応</a:t>
            </a:r>
            <a:endParaRPr lang="en-US" sz="10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3" name="Shape 1"/>
          <p:cNvSpPr/>
          <p:nvPr/>
        </p:nvSpPr>
        <p:spPr>
          <a:xfrm>
            <a:off x="6583680" y="-731520"/>
            <a:ext cx="4114800" cy="4114800"/>
          </a:xfrm>
          <a:prstGeom prst="ellipse">
            <a:avLst/>
          </a:prstGeom>
          <a:solidFill>
            <a:srgbClr val="CADCFC">
              <a:alpha val="1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5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1828800"/>
            <a:ext cx="7315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AIエージェントの実態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640080" y="29260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AB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「答える」から「やり遂げる」AIへ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0" y="5093208"/>
            <a:ext cx="9144000" cy="50292"/>
          </a:xfrm>
          <a:prstGeom prst="rect">
            <a:avLst/>
          </a:prstGeom>
          <a:solidFill>
            <a:srgbClr val="CADCFC"/>
          </a:solidFill>
          <a:ln/>
        </p:spPr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400" kern="0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  —  AIエージェントの実態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48640" y="47548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AIエージェント — 仕事を「やり遂げる」AI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02920" y="1078992"/>
            <a:ext cx="4023360" cy="2395728"/>
          </a:xfrm>
          <a:prstGeom prst="rect">
            <a:avLst/>
          </a:prstGeom>
          <a:solidFill>
            <a:srgbClr val="F0F4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152144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エージェントのループ構造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58368" y="1508760"/>
            <a:ext cx="960120" cy="3474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658368" y="1554480"/>
            <a:ext cx="960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計画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719072" y="1563624"/>
            <a:ext cx="2606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タスクを分解し実行順を設計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042416" y="1856232"/>
            <a:ext cx="73152" cy="128016"/>
          </a:xfrm>
          <a:prstGeom prst="rect">
            <a:avLst/>
          </a:prstGeom>
          <a:solidFill>
            <a:srgbClr val="4A6FA5"/>
          </a:solidFill>
          <a:ln/>
        </p:spPr>
      </p:sp>
      <p:sp>
        <p:nvSpPr>
          <p:cNvPr id="11" name="Shape 9"/>
          <p:cNvSpPr/>
          <p:nvPr/>
        </p:nvSpPr>
        <p:spPr>
          <a:xfrm>
            <a:off x="658368" y="1984248"/>
            <a:ext cx="960120" cy="3474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658368" y="2029968"/>
            <a:ext cx="960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ツール実行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719072" y="2039112"/>
            <a:ext cx="2606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検索・コード実行・API呼び出し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1042416" y="2331720"/>
            <a:ext cx="73152" cy="128016"/>
          </a:xfrm>
          <a:prstGeom prst="rect">
            <a:avLst/>
          </a:prstGeom>
          <a:solidFill>
            <a:srgbClr val="4A6FA5"/>
          </a:solidFill>
          <a:ln/>
        </p:spPr>
      </p:sp>
      <p:sp>
        <p:nvSpPr>
          <p:cNvPr id="15" name="Shape 13"/>
          <p:cNvSpPr/>
          <p:nvPr/>
        </p:nvSpPr>
        <p:spPr>
          <a:xfrm>
            <a:off x="658368" y="2459736"/>
            <a:ext cx="960120" cy="3474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658368" y="2505456"/>
            <a:ext cx="960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観察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719072" y="2514600"/>
            <a:ext cx="2606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結果を確認・評価する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1042416" y="2807208"/>
            <a:ext cx="73152" cy="128016"/>
          </a:xfrm>
          <a:prstGeom prst="rect">
            <a:avLst/>
          </a:prstGeom>
          <a:solidFill>
            <a:srgbClr val="4A6FA5"/>
          </a:solidFill>
          <a:ln/>
        </p:spPr>
      </p:sp>
      <p:sp>
        <p:nvSpPr>
          <p:cNvPr id="19" name="Shape 17"/>
          <p:cNvSpPr/>
          <p:nvPr/>
        </p:nvSpPr>
        <p:spPr>
          <a:xfrm>
            <a:off x="658368" y="2935224"/>
            <a:ext cx="960120" cy="3474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0" name="Text 18"/>
          <p:cNvSpPr/>
          <p:nvPr/>
        </p:nvSpPr>
        <p:spPr>
          <a:xfrm>
            <a:off x="658368" y="2980944"/>
            <a:ext cx="960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再計画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719072" y="2990088"/>
            <a:ext cx="2606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必要なら計画を修正して繰り返す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40080" y="3401568"/>
            <a:ext cx="3749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目標達成まで自律的にループを継続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754880" y="1078992"/>
            <a:ext cx="50292" cy="658368"/>
          </a:xfrm>
          <a:prstGeom prst="rect">
            <a:avLst/>
          </a:prstGeom>
          <a:solidFill>
            <a:srgbClr val="4C1D95"/>
          </a:solidFill>
          <a:ln/>
        </p:spPr>
      </p:sp>
      <p:sp>
        <p:nvSpPr>
          <p:cNvPr id="24" name="Text 22"/>
          <p:cNvSpPr/>
          <p:nvPr/>
        </p:nvSpPr>
        <p:spPr>
          <a:xfrm>
            <a:off x="4956048" y="1078992"/>
            <a:ext cx="3794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956048" y="1353312"/>
            <a:ext cx="3794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コードベース全体を読み込み、バグ修正・実装・テスト作成を自律実行。GitHub公開コミットの4%はClaude Codeが完了（年末20%超予想）。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754880" y="1947672"/>
            <a:ext cx="50292" cy="658368"/>
          </a:xfrm>
          <a:prstGeom prst="rect">
            <a:avLst/>
          </a:prstGeom>
          <a:solidFill>
            <a:srgbClr val="0F6E56"/>
          </a:solidFill>
          <a:ln/>
        </p:spPr>
      </p:sp>
      <p:sp>
        <p:nvSpPr>
          <p:cNvPr id="27" name="Text 25"/>
          <p:cNvSpPr/>
          <p:nvPr/>
        </p:nvSpPr>
        <p:spPr>
          <a:xfrm>
            <a:off x="4956048" y="1947672"/>
            <a:ext cx="3794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 エージェント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956048" y="2221992"/>
            <a:ext cx="3794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市場調査→データ収集→分析→レポート作成までをWebブラウジング＋コード実行で自律実行。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754880" y="2816352"/>
            <a:ext cx="50292" cy="65836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0" name="Text 28"/>
          <p:cNvSpPr/>
          <p:nvPr/>
        </p:nvSpPr>
        <p:spPr>
          <a:xfrm>
            <a:off x="4956048" y="2816352"/>
            <a:ext cx="3794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A2A（複数エージェント連携）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956048" y="3090672"/>
            <a:ext cx="3794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「調査担当エージェント」「執筆担当エージェント」「校正担当エージェント」が分業して複雑なタスクを完遂。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502920" y="3611880"/>
            <a:ext cx="8321040" cy="135331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3" name="Text 31"/>
          <p:cNvSpPr/>
          <p:nvPr/>
        </p:nvSpPr>
        <p:spPr>
          <a:xfrm>
            <a:off x="685800" y="3675888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MCP（Model Context Protocol）とは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85800" y="3968496"/>
            <a:ext cx="804672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AB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がオープンソースとしてリリースしたAI接続の共通規格。AIとデータベース・API・ファイルシステムを「USB-Cのような汎用コネクタ」で接続する標準インターフェース。現在、Google・Microsoft・AWSなど主要クラウドも採用し、エコシステムが急速に拡大中。</a:t>
            </a:r>
            <a:endParaRPr lang="en-US" sz="10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3" name="Shape 1"/>
          <p:cNvSpPr/>
          <p:nvPr/>
        </p:nvSpPr>
        <p:spPr>
          <a:xfrm>
            <a:off x="6583680" y="-731520"/>
            <a:ext cx="4114800" cy="4114800"/>
          </a:xfrm>
          <a:prstGeom prst="ellipse">
            <a:avLst/>
          </a:prstGeom>
          <a:solidFill>
            <a:srgbClr val="CADCFC">
              <a:alpha val="1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5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5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1828800"/>
            <a:ext cx="7315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社会への影響と展望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640080" y="29260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AB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雇用変化・規制・企業二極化の現実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0" y="5093208"/>
            <a:ext cx="9144000" cy="50292"/>
          </a:xfrm>
          <a:prstGeom prst="rect">
            <a:avLst/>
          </a:prstGeom>
          <a:solidFill>
            <a:srgbClr val="CADCFC"/>
          </a:solidFill>
          <a:ln/>
        </p:spPr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400" kern="0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5  —  社会への影響と展望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48640" y="47548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社会への影響 — プラスと課題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02920" y="1097280"/>
            <a:ext cx="4023360" cy="2651760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117043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プラスの影響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58368" y="1508760"/>
            <a:ext cx="3703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業務効率化・コスト削減の加速（週5〜10時間の工数削減事例多数）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58368" y="1920240"/>
            <a:ext cx="3703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AIリテラシーを持つ人材の市場価値が急上昇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58368" y="2331720"/>
            <a:ext cx="3703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新産業・新職種の創出（プロンプトエンジニア・AI監査など）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58368" y="2743200"/>
            <a:ext cx="3703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医療診断精度の向上・創薬スピードの加速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58368" y="3154680"/>
            <a:ext cx="3703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教育の個別最適化でアクセス格差の縮小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09160" y="1097280"/>
            <a:ext cx="4023360" cy="2651760"/>
          </a:xfrm>
          <a:prstGeom prst="rect">
            <a:avLst/>
          </a:prstGeom>
          <a:solidFill>
            <a:srgbClr val="FEE2E2"/>
          </a:solidFill>
          <a:ln/>
        </p:spPr>
      </p:sp>
      <p:sp>
        <p:nvSpPr>
          <p:cNvPr id="13" name="Text 11"/>
          <p:cNvSpPr/>
          <p:nvPr/>
        </p:nvSpPr>
        <p:spPr>
          <a:xfrm>
            <a:off x="4864608" y="117043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向き合うべき課題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64608" y="1508760"/>
            <a:ext cx="3703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  </a:t>
            </a:r>
            <a:pPr indent="0" marL="0">
              <a:buNone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ルーティン業務の自動化による雇用変化（特にホワイトカラー)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864608" y="1920240"/>
            <a:ext cx="3703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  </a:t>
            </a:r>
            <a:pPr indent="0" marL="0">
              <a:buNone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ディープフェイク・フィッシング詐欺の高度化・大量化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864608" y="2331720"/>
            <a:ext cx="3703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  </a:t>
            </a:r>
            <a:pPr indent="0" marL="0">
              <a:buNone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著作権・プライバシー問題の法整備が追いついていない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864608" y="2743200"/>
            <a:ext cx="3703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  </a:t>
            </a:r>
            <a:pPr indent="0" marL="0">
              <a:buNone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シャドーAIによる機密情報漏洩リスク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864608" y="3154680"/>
            <a:ext cx="3703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  </a:t>
            </a:r>
            <a:pPr indent="0" marL="0">
              <a:buNone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EUなど各国のAI規制整備と対応コスト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02920" y="3931920"/>
            <a:ext cx="8321040" cy="603504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0" name="Text 18"/>
          <p:cNvSpPr/>
          <p:nvPr/>
        </p:nvSpPr>
        <p:spPr>
          <a:xfrm>
            <a:off x="658368" y="3986784"/>
            <a:ext cx="80467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市場規模予測：2026年 833億ドル → 2035年 9,884億ドル（CAGR 31.6%）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58368" y="422452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AB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日本：2028年 8,028億円（IDC）  /  2030年 2,110億ドル（JEITA）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48640" y="466344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AI活用に成功した企業は1.7倍の成長。「活用企業」と「非活用企業」の格差は2026年以降急拡大。</a:t>
            </a:r>
            <a:endParaRPr lang="en-US" sz="10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0" y="-457200"/>
            <a:ext cx="4114800" cy="4114800"/>
          </a:xfrm>
          <a:prstGeom prst="ellipse">
            <a:avLst/>
          </a:prstGeom>
          <a:solidFill>
            <a:srgbClr val="CADCFC">
              <a:alpha val="1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32004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5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640080" y="658368"/>
            <a:ext cx="7315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7つのキーポイント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94360" y="1463040"/>
            <a:ext cx="310896" cy="310896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472184"/>
            <a:ext cx="31089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24128" y="146304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企業のAI利用率54.7%。2026年は「ROIで評価される年」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94360" y="1984248"/>
            <a:ext cx="310896" cy="310896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0" name="Text 8"/>
          <p:cNvSpPr/>
          <p:nvPr/>
        </p:nvSpPr>
        <p:spPr>
          <a:xfrm>
            <a:off x="594360" y="1993392"/>
            <a:ext cx="31089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24128" y="1984248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各AIは用途で棲み分け。「最強」より「最適なスタック選び」が重要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94360" y="2505456"/>
            <a:ext cx="310896" cy="310896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3" name="Text 11"/>
          <p:cNvSpPr/>
          <p:nvPr/>
        </p:nvSpPr>
        <p:spPr>
          <a:xfrm>
            <a:off x="594360" y="2514600"/>
            <a:ext cx="31089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24128" y="2505456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Claude：長文・コーディング。ChatGPT：汎用。Gemini：Google連携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94360" y="3026664"/>
            <a:ext cx="310896" cy="310896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6" name="Text 14"/>
          <p:cNvSpPr/>
          <p:nvPr/>
        </p:nvSpPr>
        <p:spPr>
          <a:xfrm>
            <a:off x="594360" y="3035808"/>
            <a:ext cx="31089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24128" y="3026664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Llama：機密データ・自社AI。Grok：リアルタイム。Copilot：Office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94360" y="3547872"/>
            <a:ext cx="310896" cy="310896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9" name="Text 17"/>
          <p:cNvSpPr/>
          <p:nvPr/>
        </p:nvSpPr>
        <p:spPr>
          <a:xfrm>
            <a:off x="594360" y="3557016"/>
            <a:ext cx="31089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24128" y="3547872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製造・医療・金融・教育・マーケで具体的な成果が続々と出始めている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94360" y="4069080"/>
            <a:ext cx="310896" cy="310896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22" name="Text 20"/>
          <p:cNvSpPr/>
          <p:nvPr/>
        </p:nvSpPr>
        <p:spPr>
          <a:xfrm>
            <a:off x="594360" y="4078224"/>
            <a:ext cx="31089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024128" y="406908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AIエージェントが「答える」から「やり遂げる」AIへ進化。MCP規格が普及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94360" y="4590288"/>
            <a:ext cx="310896" cy="310896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25" name="Text 23"/>
          <p:cNvSpPr/>
          <p:nvPr/>
        </p:nvSpPr>
        <p:spPr>
          <a:xfrm>
            <a:off x="594360" y="4599432"/>
            <a:ext cx="31089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024128" y="4590288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社会的恩恵と課題が並走。シャドーAI対策・規制対応が企業の急務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40080" y="4892040"/>
            <a:ext cx="7863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88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2026  ·  Powered by Claude Pro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0" y="5093208"/>
            <a:ext cx="9144000" cy="50292"/>
          </a:xfrm>
          <a:prstGeom prst="rect">
            <a:avLst/>
          </a:prstGeom>
          <a:solidFill>
            <a:srgbClr val="CADCFC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生成AI最新動向 2026 完全版</dc:title>
  <dc:subject>PptxGenJS Presentation</dc:subject>
  <dc:creator>Claude Pro</dc:creator>
  <cp:lastModifiedBy>Claude Pro</cp:lastModifiedBy>
  <cp:revision>1</cp:revision>
  <dcterms:created xsi:type="dcterms:W3CDTF">2026-04-18T16:05:54Z</dcterms:created>
  <dcterms:modified xsi:type="dcterms:W3CDTF">2026-04-18T16:05:54Z</dcterms:modified>
</cp:coreProperties>
</file>